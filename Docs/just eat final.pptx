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16" d="100"/>
          <a:sy n="116" d="100"/>
        </p:scale>
        <p:origin x="49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4033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~0:45]
Good [morning/afternoon], everyone. Today our group is presenting Just Eat — a personalized nutrition and smart food ordering platform we built as our semester project.
Just Eat is not simply a food delivery clone. What makes it unique is the combination of three things that usually exist in separate apps: a personalized meal planning engine powered by real nutritional science, an AI-powered research assistant that pulls from academic literature, and a fully integrated grocery ordering system connected to real-world delivery APIs like DoorDash and Kroger.
On the right you can see what the app's home dashboard looks like — a calorie ring showing today's target, a macro breakdown bar across protein, carbs, and fats, and individual meal entries for breakfast, lunch, and dinner. This is the kind of experience we set out to build.
Our GitHub repository is at github.com/dvillago/Just_Eat — we'll share the link at the end as well.
Let's walk through what we built, how we built it, and what we learned along the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INTRODUCTION | ~1:30]
So what exactly is Just Eat?
At its core, Just Eat is a full-stack web application with two client interfaces — a mobile app for iOS and Android, and a terminal-based UI for developers and power users — both of which communicate with the same backend API.
The system covers the full journey a user might take: they start by setting up their health profile — age, weight, activity level, and dietary restrictions. The app then generates a personalized meal plan using macronutrient formulas grounded in real USDA nutritional data. If the user wants to cook those meals, they can order ingredients directly from DoorDash or Kroger right inside the app. If they want to research a health topic or ingredient, they can search academic literature from PubMed and Google Scholar, or ask our built-in AI research assistant.
We scoped this out into 20 fully-dressed use cases. The system has three user roles: a regular customer, a developer or power user accessing via the terminal, and an admin. We integrated two grocery delivery provider APIs — DoorDash and Kroger.
The tech stack is React on the frontend, Node.js and Express on the backend, MySQL as the primary database supplemented by USDA nutritional data, JWT and OAuth 2.0 for authentication, AES-256 for data encryption, and Firebase Cloud Messaging and Apple Push Notification service for mobile notifications.
This slide also shows the six core capabilities — let's go through them in more detail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FEATURES | ~2:00]
These are the six features we're most proud of, and the ones that really differentiate Just Eat from a typical class project.
Starting top-left: Personalized Nutrition Plans. When a user enters their age, weight, activity level, and dietary preferences — whether that's vegan, keto, or paleo — the system calculates their exact macronutrient targets and generates a meal plan accordingly. This uses USDA nutritional data and standard macronutrient science formulas. Users can also swap meals within their plan as long as the macro balance is maintained.
Next, the AI Research Assistant. This was one of our most ambitious features. Users can type a natural-language question like "what does research say about omega-3 for ADHD?" and the assistant retrieves relevant academic articles from PubMed and Google Scholar, synthesizes the findings, and returns a response with inline citations. Every response includes a disclaimer that findings are for research context only, not medical advice.
Third: Smart Grocery Ordering. Once a meal plan is ready, the system compiles a full ingredient list, deduplicates items, calculates quantities, and sends the order to either DoorDash or Kroger via their APIs. We also built a budget optimizer that finds cheaper ingredient alternatives with equivalent nutritional value.
Fourth: Live Delivery Tracking. After an order is placed, users can monitor the full delivery journey — from confirmed to preparing to picked up to delivered — updated every five minutes via API polling, or in real time if the provider supports webhooks.
Fifth: the Dual Interface. The same backend API powers both a React mobile app and a terminal UI. Developers and power users can manage their full meal plan and orders from the command line, including non-interactive scripting via JSON output mode.
Finally: Reports and Favorites. Users get weekly auto-generated nutrition reports with macro trend charts and goal adherence scores. They can save favorite meals, which then influence future AI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CHALLENGES | ~2:00]
No project this size comes without serious challenges. Here are the three that cost us the most time and taught us the most.
The first was Multi-Provider OAuth and Secure Token Management. DoorDash and Kroger each have their own OAuth 2.0 implementation with separate client credentials, separate redirect flows, and separate token formats. On top of that, tokens need to persist securely across sessions, be automatically refreshed before they expire, and work identically whether the user is on the mobile app or the terminal UI. Our solution was to build a centralized authentication middleware that abstracts all provider-specific logic, stores tokens encrypted with AES-256 at rest, and handles refresh automatically before expiry. Both clients simply call the same middleware — they don't need to know which provider they're talking to.
The second challenge was Nutritional Accuracy Across Multi-Constraint Plans. Generating a valid meal plan sounds simple until you realize it has to simultaneously satisfy calorie and macro targets, avoid allergens and restricted foods, stay within a budget, respect ingredient shelf-life for meal prep optimization, and still produce variety. This was essentially a constraint-satisfaction problem. We solved it by building a multi-constraint planner backed by USDA nutritional data, with real-time validation that fires on every modification, batched update support so multiple swaps are validated together, and an ingredient overlap optimizer that reduces shopping complexity for weekly meal prep.
The third challenge was External API Fragility. We integrated four external services — DoorDash, Kroger, PubMed, and Google Scholar — and every single one had meaningful failure scenarios. DoorDash and Kroger could be unavailable or have high load. PubMed has rate limits. Google Scholar has no official public API — we relied on a third-party wrapper, which is inherently fragile. Our solution was layered fallback logic: order APIs retry automatically and queue requests on failure; the literature search falls over from PubMed to Google Scholar or vice versa if one is down; and every failure state surfaces a clear, user-friendly message rather than a crash.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LESSONS LEARNED | ~1:30]
Let me wrap up with what we took away from this project — our secrets for success, as we call them.
First: Plan Before You Code. We spent a full sprint writing 20 fully-dressed use cases before a single line of code was written. At the time it felt slow. In retrospect, it was the single most valuable thing we did. Every use case defined preconditions, success scenarios, extensions, and error paths. When disagreements came up in implementation — and they did — we could point to the use case and resolve it in minutes. It prevented scope creep, eliminated ambiguity, and gave the whole team a shared contract.
Second: Collaborate with Git Discipline. We enforced a strict branching strategy — every feature got its own branch, every merge went through a pull request, and every PR required at least one reviewer. This felt like overhead at first, especially on a student timeline. But when three people are modifying the same authentication middleware and the same database schema simultaneously, those pull requests and code reviews are what keep the project from falling apart. We had almost zero merge conflicts once the discipline was established.
Third: Test Early and Often. We wrote unit tests for the nutrition planner logic alongside the feature itself. This paid off immediately — when we later added the budget optimizer and meal prep scheduling, those tests caught three regressions before they ever touched the UI. For constraint-heavy logic like macronutrient validation, tests aren't optional. They're documentation.
Fourth: User Experience First. From day one, we designed with the end user in mind — 48dp minimum touch targets for accessibility, responsive layouts tested on 360px-width screens, clear notification messages, readable error states. It would have been easy to defer UX polish to the end. We're glad we didn't. The result is a product that feels coherent and intentional, not just functional.
Together, these four principles are what turned a complex, multi-integration project into something we're genuinely proud to present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THANK YOU / Q&amp;A | ~0:30 closing + Q&amp;A]
To summarize what we built: Just Eat is a full-stack nutrition and food ordering platform with 20 use cases, a personalized meal planning engine, an AI research assistant with academic citations, real-time grocery ordering and delivery tracking, and a dual mobile plus terminal interface — all secured with OAuth 2.0, JWT, and AES-256 encryption.
The project pushed us technically and as a team, and we're proud of what we shipped.
Our GitHub repository is at github.com/dvillago/Just_Eat — all source code, use case diagrams, and class diagrams are available there.
We're happy to answer any questions — about the architecture, the features, the challenges we faced, or any specific use case.
--- POTENTIAL Q&amp;A TALKING POINTS ---
- "How does the AI assistant avoid giving bad medical advice?" → Every response includes a visible disclaimer. The system prompt explicitly instructs the model not to make medical recommendations and to attribute all claims to sources. UC-08 defines this as a hard requirement.
- "What happens if DoorDash is down?" → The order is queued and retried automatically. The user sees a clear status message. If the grocery provider is simply unavailable, the system offers alternative providers. This is covered in UC-02 extension 4a.
- "How is health data protected?" → All health data is encrypted at rest using AES-256. All API communication uses HTTPS. Authentication tokens are never stored in plaintext. This is addressed in UC-01 and the supplementary security specifications.
- "Why support a terminal UI?" → Two reasons: developers wanted to test the backend without a mobile device, and power users wanted a scriptable, keyboard-driven interface for home automation. UC-06 defines both personas. Critically, both interfaces share the same REST API, so features only had to be built once.
- "How accurate are the nutrition calculations?" → We use USDA nutritional data as the source of truth, the same database used by MyFitnessPal and similar apps. Macronutrient formulas follow standard nutritional science methodology.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7.png"/><Relationship Id="rId5" Type="http://schemas.openxmlformats.org/officeDocument/2006/relationships/image" Target="../media/image12.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1.png"/><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6.png"/><Relationship Id="rId4" Type="http://schemas.openxmlformats.org/officeDocument/2006/relationships/image" Target="../media/image42.png"/><Relationship Id="rId9"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D1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 y="-731520"/>
            <a:ext cx="4114800" cy="4114800"/>
          </a:xfrm>
          <a:prstGeom prst="rect">
            <a:avLst/>
          </a:prstGeom>
        </p:spPr>
      </p:pic>
      <p:pic>
        <p:nvPicPr>
          <p:cNvPr id="3" name="Image 1" descr="preencoded.png"/>
          <p:cNvPicPr>
            <a:picLocks noChangeAspect="1"/>
          </p:cNvPicPr>
          <p:nvPr/>
        </p:nvPicPr>
        <p:blipFill>
          <a:blip r:embed="rId4"/>
          <a:stretch>
            <a:fillRect/>
          </a:stretch>
        </p:blipFill>
        <p:spPr>
          <a:xfrm>
            <a:off x="6583680" y="2011680"/>
            <a:ext cx="3200400" cy="3200400"/>
          </a:xfrm>
          <a:prstGeom prst="rect">
            <a:avLst/>
          </a:prstGeom>
        </p:spPr>
      </p:pic>
      <p:pic>
        <p:nvPicPr>
          <p:cNvPr id="4" name="Image 2" descr="preencoded.png"/>
          <p:cNvPicPr>
            <a:picLocks noChangeAspect="1"/>
          </p:cNvPicPr>
          <p:nvPr/>
        </p:nvPicPr>
        <p:blipFill>
          <a:blip r:embed="rId5"/>
          <a:stretch>
            <a:fillRect/>
          </a:stretch>
        </p:blipFill>
        <p:spPr>
          <a:xfrm>
            <a:off x="4572000" y="-548640"/>
            <a:ext cx="2560320" cy="2560320"/>
          </a:xfrm>
          <a:prstGeom prst="rect">
            <a:avLst/>
          </a:prstGeom>
        </p:spPr>
      </p:pic>
      <p:pic>
        <p:nvPicPr>
          <p:cNvPr id="5" name="Image 3" descr="preencoded.png"/>
          <p:cNvPicPr>
            <a:picLocks noChangeAspect="1"/>
          </p:cNvPicPr>
          <p:nvPr/>
        </p:nvPicPr>
        <p:blipFill>
          <a:blip r:embed="rId6"/>
          <a:stretch>
            <a:fillRect/>
          </a:stretch>
        </p:blipFill>
        <p:spPr>
          <a:xfrm>
            <a:off x="-731520" y="-457200"/>
            <a:ext cx="3657600" cy="3657600"/>
          </a:xfrm>
          <a:prstGeom prst="rect">
            <a:avLst/>
          </a:prstGeom>
        </p:spPr>
      </p:pic>
      <p:pic>
        <p:nvPicPr>
          <p:cNvPr id="6" name="Image 4" descr="preencoded.png"/>
          <p:cNvPicPr>
            <a:picLocks noChangeAspect="1"/>
          </p:cNvPicPr>
          <p:nvPr/>
        </p:nvPicPr>
        <p:blipFill>
          <a:blip r:embed="rId7"/>
          <a:stretch>
            <a:fillRect/>
          </a:stretch>
        </p:blipFill>
        <p:spPr>
          <a:xfrm>
            <a:off x="6217920" y="1645920"/>
            <a:ext cx="2743200" cy="2743200"/>
          </a:xfrm>
          <a:prstGeom prst="rect">
            <a:avLst/>
          </a:prstGeom>
        </p:spPr>
      </p:pic>
      <p:sp>
        <p:nvSpPr>
          <p:cNvPr id="7" name="Shape 0"/>
          <p:cNvSpPr/>
          <p:nvPr/>
        </p:nvSpPr>
        <p:spPr>
          <a:xfrm>
            <a:off x="457200" y="502920"/>
            <a:ext cx="1920240" cy="292608"/>
          </a:xfrm>
          <a:prstGeom prst="roundRect">
            <a:avLst>
              <a:gd name="adj" fmla="val 50000"/>
            </a:avLst>
          </a:prstGeom>
          <a:solidFill>
            <a:srgbClr val="27AE60"/>
          </a:solidFill>
          <a:ln w="12700">
            <a:solidFill>
              <a:srgbClr val="27AE60"/>
            </a:solidFill>
            <a:prstDash val="solid"/>
          </a:ln>
        </p:spPr>
        <p:txBody>
          <a:bodyPr/>
          <a:lstStyle/>
          <a:p>
            <a:endParaRPr lang="en-US"/>
          </a:p>
        </p:txBody>
      </p:sp>
      <p:pic>
        <p:nvPicPr>
          <p:cNvPr id="8" name="Image 5" descr="preencoded.png"/>
          <p:cNvPicPr>
            <a:picLocks noChangeAspect="1"/>
          </p:cNvPicPr>
          <p:nvPr/>
        </p:nvPicPr>
        <p:blipFill>
          <a:blip r:embed="rId8"/>
          <a:stretch>
            <a:fillRect/>
          </a:stretch>
        </p:blipFill>
        <p:spPr>
          <a:xfrm>
            <a:off x="548640" y="566928"/>
            <a:ext cx="164592" cy="164592"/>
          </a:xfrm>
          <a:prstGeom prst="rect">
            <a:avLst/>
          </a:prstGeom>
        </p:spPr>
      </p:pic>
      <p:sp>
        <p:nvSpPr>
          <p:cNvPr id="9" name="Text 1"/>
          <p:cNvSpPr/>
          <p:nvPr/>
        </p:nvSpPr>
        <p:spPr>
          <a:xfrm>
            <a:off x="768096" y="525780"/>
            <a:ext cx="1554480" cy="265176"/>
          </a:xfrm>
          <a:prstGeom prst="rect">
            <a:avLst/>
          </a:prstGeom>
          <a:noFill/>
          <a:ln/>
        </p:spPr>
        <p:txBody>
          <a:bodyPr wrap="square" lIns="0" tIns="0" rIns="0" bIns="0" rtlCol="0" anchor="ctr"/>
          <a:lstStyle/>
          <a:p>
            <a:pPr marL="0" indent="0">
              <a:buNone/>
            </a:pPr>
            <a:r>
              <a:rPr lang="en-US" sz="800" b="1" kern="0" spc="150" dirty="0">
                <a:solidFill>
                  <a:srgbClr val="FFFFFF"/>
                </a:solidFill>
                <a:latin typeface="Calibri" pitchFamily="34" charset="0"/>
                <a:ea typeface="Calibri" pitchFamily="34" charset="-122"/>
                <a:cs typeface="Calibri" pitchFamily="34" charset="-120"/>
              </a:rPr>
              <a:t>NUTRITION PLATFORM</a:t>
            </a:r>
            <a:endParaRPr lang="en-US" sz="800" dirty="0"/>
          </a:p>
        </p:txBody>
      </p:sp>
      <p:sp>
        <p:nvSpPr>
          <p:cNvPr id="10" name="Text 2"/>
          <p:cNvSpPr/>
          <p:nvPr/>
        </p:nvSpPr>
        <p:spPr>
          <a:xfrm>
            <a:off x="457200" y="932688"/>
            <a:ext cx="5486400" cy="1143000"/>
          </a:xfrm>
          <a:prstGeom prst="rect">
            <a:avLst/>
          </a:prstGeom>
          <a:noFill/>
          <a:ln/>
        </p:spPr>
        <p:txBody>
          <a:bodyPr wrap="square" lIns="0" tIns="0" rIns="0" bIns="0" rtlCol="0" anchor="ctr"/>
          <a:lstStyle/>
          <a:p>
            <a:pPr marL="0" indent="0">
              <a:buNone/>
            </a:pPr>
            <a:r>
              <a:rPr lang="en-US" sz="7600" b="1" dirty="0">
                <a:solidFill>
                  <a:srgbClr val="FFFFFF"/>
                </a:solidFill>
                <a:latin typeface="Georgia" pitchFamily="34" charset="0"/>
                <a:ea typeface="Georgia" pitchFamily="34" charset="-122"/>
                <a:cs typeface="Georgia" pitchFamily="34" charset="-120"/>
              </a:rPr>
              <a:t>Just </a:t>
            </a:r>
            <a:r>
              <a:rPr lang="en-US" sz="7600" b="1" dirty="0">
                <a:solidFill>
                  <a:srgbClr val="8BC34A"/>
                </a:solidFill>
                <a:latin typeface="Georgia" pitchFamily="34" charset="0"/>
                <a:ea typeface="Georgia" pitchFamily="34" charset="-122"/>
                <a:cs typeface="Georgia" pitchFamily="34" charset="-120"/>
              </a:rPr>
              <a:t>Eat</a:t>
            </a:r>
            <a:endParaRPr lang="en-US" sz="7600" dirty="0"/>
          </a:p>
        </p:txBody>
      </p:sp>
      <p:sp>
        <p:nvSpPr>
          <p:cNvPr id="11" name="Text 3"/>
          <p:cNvSpPr/>
          <p:nvPr/>
        </p:nvSpPr>
        <p:spPr>
          <a:xfrm>
            <a:off x="457200" y="2212848"/>
            <a:ext cx="4754880" cy="685800"/>
          </a:xfrm>
          <a:prstGeom prst="rect">
            <a:avLst/>
          </a:prstGeom>
          <a:noFill/>
          <a:ln/>
        </p:spPr>
        <p:txBody>
          <a:bodyPr wrap="square" lIns="0" tIns="0" rIns="0" bIns="0" rtlCol="0" anchor="ctr"/>
          <a:lstStyle/>
          <a:p>
            <a:pPr marL="0" indent="0">
              <a:buNone/>
            </a:pPr>
            <a:r>
              <a:rPr lang="en-US" sz="1350" dirty="0">
                <a:solidFill>
                  <a:srgbClr val="A8C8A8"/>
                </a:solidFill>
                <a:latin typeface="Calibri" pitchFamily="34" charset="0"/>
                <a:ea typeface="Calibri" pitchFamily="34" charset="-122"/>
                <a:cs typeface="Calibri" pitchFamily="34" charset="-120"/>
              </a:rPr>
              <a:t>Personalized Nutrition &amp; Smart</a:t>
            </a:r>
            <a:endParaRPr lang="en-US" sz="1350" dirty="0"/>
          </a:p>
          <a:p>
            <a:pPr marL="0" indent="0">
              <a:buNone/>
            </a:pPr>
            <a:r>
              <a:rPr lang="en-US" sz="1350" dirty="0">
                <a:solidFill>
                  <a:srgbClr val="A8C8A8"/>
                </a:solidFill>
                <a:latin typeface="Calibri" pitchFamily="34" charset="0"/>
                <a:ea typeface="Calibri" pitchFamily="34" charset="-122"/>
                <a:cs typeface="Calibri" pitchFamily="34" charset="-120"/>
              </a:rPr>
              <a:t>Food Ordering — All in One App</a:t>
            </a:r>
            <a:endParaRPr lang="en-US" sz="1350" dirty="0"/>
          </a:p>
        </p:txBody>
      </p:sp>
      <p:pic>
        <p:nvPicPr>
          <p:cNvPr id="12" name="Image 6" descr="preencoded.png"/>
          <p:cNvPicPr>
            <a:picLocks noChangeAspect="1"/>
          </p:cNvPicPr>
          <p:nvPr/>
        </p:nvPicPr>
        <p:blipFill>
          <a:blip r:embed="rId9"/>
          <a:stretch>
            <a:fillRect/>
          </a:stretch>
        </p:blipFill>
        <p:spPr>
          <a:xfrm>
            <a:off x="457200" y="2999232"/>
            <a:ext cx="2423160" cy="36576"/>
          </a:xfrm>
          <a:prstGeom prst="rect">
            <a:avLst/>
          </a:prstGeom>
        </p:spPr>
      </p:pic>
      <p:sp>
        <p:nvSpPr>
          <p:cNvPr id="13" name="Text 4"/>
          <p:cNvSpPr/>
          <p:nvPr/>
        </p:nvSpPr>
        <p:spPr>
          <a:xfrm>
            <a:off x="457200" y="3145536"/>
            <a:ext cx="1371600" cy="475488"/>
          </a:xfrm>
          <a:prstGeom prst="rect">
            <a:avLst/>
          </a:prstGeom>
          <a:noFill/>
          <a:ln/>
        </p:spPr>
        <p:txBody>
          <a:bodyPr wrap="square" lIns="0" tIns="0" rIns="0" bIns="0" rtlCol="0" anchor="ctr"/>
          <a:lstStyle/>
          <a:p>
            <a:pPr marL="0" indent="0">
              <a:buNone/>
            </a:pPr>
            <a:r>
              <a:rPr lang="en-US" sz="2800" b="1" dirty="0">
                <a:solidFill>
                  <a:srgbClr val="8BC34A"/>
                </a:solidFill>
                <a:latin typeface="Georgia" pitchFamily="34" charset="0"/>
                <a:ea typeface="Georgia" pitchFamily="34" charset="-122"/>
                <a:cs typeface="Georgia" pitchFamily="34" charset="-120"/>
              </a:rPr>
              <a:t>20</a:t>
            </a:r>
            <a:endParaRPr lang="en-US" sz="2800" dirty="0"/>
          </a:p>
        </p:txBody>
      </p:sp>
      <p:sp>
        <p:nvSpPr>
          <p:cNvPr id="14" name="Text 5"/>
          <p:cNvSpPr/>
          <p:nvPr/>
        </p:nvSpPr>
        <p:spPr>
          <a:xfrm>
            <a:off x="457200" y="3621024"/>
            <a:ext cx="1371600" cy="237744"/>
          </a:xfrm>
          <a:prstGeom prst="rect">
            <a:avLst/>
          </a:prstGeom>
          <a:noFill/>
          <a:ln/>
        </p:spPr>
        <p:txBody>
          <a:bodyPr wrap="square" lIns="0" tIns="0" rIns="0" bIns="0" rtlCol="0" anchor="ctr"/>
          <a:lstStyle/>
          <a:p>
            <a:pPr marL="0" indent="0">
              <a:buNone/>
            </a:pPr>
            <a:r>
              <a:rPr lang="en-US" sz="1000" dirty="0">
                <a:solidFill>
                  <a:srgbClr val="8BAA88"/>
                </a:solidFill>
                <a:latin typeface="Calibri" pitchFamily="34" charset="0"/>
                <a:ea typeface="Calibri" pitchFamily="34" charset="-122"/>
                <a:cs typeface="Calibri" pitchFamily="34" charset="-120"/>
              </a:rPr>
              <a:t>Use Cases</a:t>
            </a:r>
            <a:endParaRPr lang="en-US" sz="1000" dirty="0"/>
          </a:p>
        </p:txBody>
      </p:sp>
      <p:sp>
        <p:nvSpPr>
          <p:cNvPr id="15" name="Text 6"/>
          <p:cNvSpPr/>
          <p:nvPr/>
        </p:nvSpPr>
        <p:spPr>
          <a:xfrm>
            <a:off x="1965960" y="3145536"/>
            <a:ext cx="1371600" cy="475488"/>
          </a:xfrm>
          <a:prstGeom prst="rect">
            <a:avLst/>
          </a:prstGeom>
          <a:noFill/>
          <a:ln/>
        </p:spPr>
        <p:txBody>
          <a:bodyPr wrap="square" lIns="0" tIns="0" rIns="0" bIns="0" rtlCol="0" anchor="ctr"/>
          <a:lstStyle/>
          <a:p>
            <a:pPr marL="0" indent="0">
              <a:buNone/>
            </a:pPr>
            <a:r>
              <a:rPr lang="en-US" sz="2800" b="1" dirty="0">
                <a:solidFill>
                  <a:srgbClr val="F97316"/>
                </a:solidFill>
                <a:latin typeface="Georgia" pitchFamily="34" charset="0"/>
                <a:ea typeface="Georgia" pitchFamily="34" charset="-122"/>
                <a:cs typeface="Georgia" pitchFamily="34" charset="-120"/>
              </a:rPr>
              <a:t>3</a:t>
            </a:r>
            <a:endParaRPr lang="en-US" sz="2800" dirty="0"/>
          </a:p>
        </p:txBody>
      </p:sp>
      <p:sp>
        <p:nvSpPr>
          <p:cNvPr id="16" name="Text 7"/>
          <p:cNvSpPr/>
          <p:nvPr/>
        </p:nvSpPr>
        <p:spPr>
          <a:xfrm>
            <a:off x="1965960" y="3621024"/>
            <a:ext cx="1371600" cy="237744"/>
          </a:xfrm>
          <a:prstGeom prst="rect">
            <a:avLst/>
          </a:prstGeom>
          <a:noFill/>
          <a:ln/>
        </p:spPr>
        <p:txBody>
          <a:bodyPr wrap="square" lIns="0" tIns="0" rIns="0" bIns="0" rtlCol="0" anchor="ctr"/>
          <a:lstStyle/>
          <a:p>
            <a:pPr marL="0" indent="0">
              <a:buNone/>
            </a:pPr>
            <a:r>
              <a:rPr lang="en-US" sz="1000" dirty="0">
                <a:solidFill>
                  <a:srgbClr val="8BAA88"/>
                </a:solidFill>
                <a:latin typeface="Calibri" pitchFamily="34" charset="0"/>
                <a:ea typeface="Calibri" pitchFamily="34" charset="-122"/>
                <a:cs typeface="Calibri" pitchFamily="34" charset="-120"/>
              </a:rPr>
              <a:t>User Roles</a:t>
            </a:r>
            <a:endParaRPr lang="en-US" sz="1000" dirty="0"/>
          </a:p>
        </p:txBody>
      </p:sp>
      <p:sp>
        <p:nvSpPr>
          <p:cNvPr id="17" name="Text 8"/>
          <p:cNvSpPr/>
          <p:nvPr/>
        </p:nvSpPr>
        <p:spPr>
          <a:xfrm>
            <a:off x="3474720" y="3145536"/>
            <a:ext cx="1371600" cy="475488"/>
          </a:xfrm>
          <a:prstGeom prst="rect">
            <a:avLst/>
          </a:prstGeom>
          <a:noFill/>
          <a:ln/>
        </p:spPr>
        <p:txBody>
          <a:bodyPr wrap="square" lIns="0" tIns="0" rIns="0" bIns="0" rtlCol="0" anchor="ctr"/>
          <a:lstStyle/>
          <a:p>
            <a:pPr marL="0" indent="0">
              <a:buNone/>
            </a:pPr>
            <a:r>
              <a:rPr lang="en-US" sz="2800" b="1" dirty="0">
                <a:solidFill>
                  <a:srgbClr val="14B8A6"/>
                </a:solidFill>
                <a:latin typeface="Georgia" pitchFamily="34" charset="0"/>
                <a:ea typeface="Georgia" pitchFamily="34" charset="-122"/>
                <a:cs typeface="Georgia" pitchFamily="34" charset="-120"/>
              </a:rPr>
              <a:t>2</a:t>
            </a:r>
            <a:endParaRPr lang="en-US" sz="2800" dirty="0"/>
          </a:p>
        </p:txBody>
      </p:sp>
      <p:sp>
        <p:nvSpPr>
          <p:cNvPr id="18" name="Text 9"/>
          <p:cNvSpPr/>
          <p:nvPr/>
        </p:nvSpPr>
        <p:spPr>
          <a:xfrm>
            <a:off x="3474720" y="3621024"/>
            <a:ext cx="1371600" cy="237744"/>
          </a:xfrm>
          <a:prstGeom prst="rect">
            <a:avLst/>
          </a:prstGeom>
          <a:noFill/>
          <a:ln/>
        </p:spPr>
        <p:txBody>
          <a:bodyPr wrap="square" lIns="0" tIns="0" rIns="0" bIns="0" rtlCol="0" anchor="ctr"/>
          <a:lstStyle/>
          <a:p>
            <a:pPr marL="0" indent="0">
              <a:buNone/>
            </a:pPr>
            <a:r>
              <a:rPr lang="en-US" sz="1000" dirty="0">
                <a:solidFill>
                  <a:srgbClr val="8BAA88"/>
                </a:solidFill>
                <a:latin typeface="Calibri" pitchFamily="34" charset="0"/>
                <a:ea typeface="Calibri" pitchFamily="34" charset="-122"/>
                <a:cs typeface="Calibri" pitchFamily="34" charset="-120"/>
              </a:rPr>
              <a:t>APIs</a:t>
            </a:r>
            <a:endParaRPr lang="en-US" sz="1000" dirty="0"/>
          </a:p>
        </p:txBody>
      </p:sp>
      <p:sp>
        <p:nvSpPr>
          <p:cNvPr id="19" name="Text 10"/>
          <p:cNvSpPr/>
          <p:nvPr/>
        </p:nvSpPr>
        <p:spPr>
          <a:xfrm>
            <a:off x="457200" y="4206240"/>
            <a:ext cx="3657600" cy="256032"/>
          </a:xfrm>
          <a:prstGeom prst="rect">
            <a:avLst/>
          </a:prstGeom>
          <a:noFill/>
          <a:ln/>
        </p:spPr>
        <p:txBody>
          <a:bodyPr wrap="square" lIns="0" tIns="0" rIns="0" bIns="0" rtlCol="0" anchor="ctr"/>
          <a:lstStyle/>
          <a:p>
            <a:pPr marL="0" indent="0">
              <a:buNone/>
            </a:pPr>
            <a:r>
              <a:rPr lang="en-US" sz="1000" dirty="0">
                <a:solidFill>
                  <a:srgbClr val="5A7A5A"/>
                </a:solidFill>
                <a:latin typeface="Calibri" pitchFamily="34" charset="0"/>
                <a:ea typeface="Calibri" pitchFamily="34" charset="-122"/>
                <a:cs typeface="Calibri" pitchFamily="34" charset="-120"/>
              </a:rPr>
              <a:t>github.com/dvillago/Just_Eat</a:t>
            </a:r>
            <a:endParaRPr lang="en-US" sz="1000" dirty="0"/>
          </a:p>
        </p:txBody>
      </p:sp>
      <p:sp>
        <p:nvSpPr>
          <p:cNvPr id="20" name="Shape 11"/>
          <p:cNvSpPr/>
          <p:nvPr/>
        </p:nvSpPr>
        <p:spPr>
          <a:xfrm>
            <a:off x="5532120" y="594360"/>
            <a:ext cx="3246120" cy="3950208"/>
          </a:xfrm>
          <a:prstGeom prst="roundRect">
            <a:avLst>
              <a:gd name="adj" fmla="val 7887"/>
            </a:avLst>
          </a:prstGeom>
          <a:solidFill>
            <a:srgbClr val="182418"/>
          </a:solidFill>
          <a:ln w="12700">
            <a:solidFill>
              <a:srgbClr val="27AE60"/>
            </a:solidFill>
            <a:prstDash val="solid"/>
          </a:ln>
          <a:effectLst>
            <a:outerShdw blurRad="254000" dist="76200" dir="8100000" algn="bl" rotWithShape="0">
              <a:srgbClr val="000000">
                <a:alpha val="45000"/>
              </a:srgbClr>
            </a:outerShdw>
          </a:effectLst>
        </p:spPr>
        <p:txBody>
          <a:bodyPr/>
          <a:lstStyle/>
          <a:p>
            <a:endParaRPr lang="en-US"/>
          </a:p>
        </p:txBody>
      </p:sp>
      <p:pic>
        <p:nvPicPr>
          <p:cNvPr id="21" name="Image 7" descr="preencoded.png"/>
          <p:cNvPicPr>
            <a:picLocks noChangeAspect="1"/>
          </p:cNvPicPr>
          <p:nvPr/>
        </p:nvPicPr>
        <p:blipFill>
          <a:blip r:embed="rId10"/>
          <a:stretch>
            <a:fillRect/>
          </a:stretch>
        </p:blipFill>
        <p:spPr>
          <a:xfrm>
            <a:off x="5532120" y="594360"/>
            <a:ext cx="3246120" cy="54864"/>
          </a:xfrm>
          <a:prstGeom prst="rect">
            <a:avLst/>
          </a:prstGeom>
        </p:spPr>
      </p:pic>
      <p:pic>
        <p:nvPicPr>
          <p:cNvPr id="22" name="Image 8" descr="preencoded.png"/>
          <p:cNvPicPr>
            <a:picLocks noChangeAspect="1"/>
          </p:cNvPicPr>
          <p:nvPr/>
        </p:nvPicPr>
        <p:blipFill>
          <a:blip r:embed="rId11"/>
          <a:stretch>
            <a:fillRect/>
          </a:stretch>
        </p:blipFill>
        <p:spPr>
          <a:xfrm>
            <a:off x="5687568" y="868680"/>
            <a:ext cx="2907792" cy="128016"/>
          </a:xfrm>
          <a:prstGeom prst="rect">
            <a:avLst/>
          </a:prstGeom>
        </p:spPr>
      </p:pic>
      <p:sp>
        <p:nvSpPr>
          <p:cNvPr id="23" name="Text 12"/>
          <p:cNvSpPr/>
          <p:nvPr/>
        </p:nvSpPr>
        <p:spPr>
          <a:xfrm>
            <a:off x="5687568" y="1024128"/>
            <a:ext cx="2907792" cy="201168"/>
          </a:xfrm>
          <a:prstGeom prst="rect">
            <a:avLst/>
          </a:prstGeom>
          <a:noFill/>
          <a:ln/>
        </p:spPr>
        <p:txBody>
          <a:bodyPr wrap="square" lIns="0" tIns="0" rIns="0" bIns="0" rtlCol="0" anchor="ctr"/>
          <a:lstStyle/>
          <a:p>
            <a:pPr marL="0" indent="0">
              <a:buNone/>
            </a:pPr>
            <a:r>
              <a:rPr lang="en-US" sz="800" dirty="0">
                <a:solidFill>
                  <a:srgbClr val="6A9A6A"/>
                </a:solidFill>
                <a:latin typeface="Calibri" pitchFamily="34" charset="0"/>
                <a:ea typeface="Calibri" pitchFamily="34" charset="-122"/>
                <a:cs typeface="Calibri" pitchFamily="34" charset="-120"/>
              </a:rPr>
              <a:t>Today's Macros</a:t>
            </a:r>
            <a:endParaRPr lang="en-US" sz="800" dirty="0"/>
          </a:p>
        </p:txBody>
      </p:sp>
      <p:sp>
        <p:nvSpPr>
          <p:cNvPr id="24" name="Shape 13"/>
          <p:cNvSpPr/>
          <p:nvPr/>
        </p:nvSpPr>
        <p:spPr>
          <a:xfrm>
            <a:off x="5687568" y="1298448"/>
            <a:ext cx="91440" cy="91440"/>
          </a:xfrm>
          <a:prstGeom prst="ellipse">
            <a:avLst/>
          </a:prstGeom>
          <a:solidFill>
            <a:srgbClr val="3CB371"/>
          </a:solidFill>
          <a:ln w="12700">
            <a:solidFill>
              <a:srgbClr val="3CB371"/>
            </a:solidFill>
            <a:prstDash val="solid"/>
          </a:ln>
        </p:spPr>
        <p:txBody>
          <a:bodyPr/>
          <a:lstStyle/>
          <a:p>
            <a:endParaRPr lang="en-US"/>
          </a:p>
        </p:txBody>
      </p:sp>
      <p:sp>
        <p:nvSpPr>
          <p:cNvPr id="25" name="Text 14"/>
          <p:cNvSpPr/>
          <p:nvPr/>
        </p:nvSpPr>
        <p:spPr>
          <a:xfrm>
            <a:off x="5815584" y="1261872"/>
            <a:ext cx="822960" cy="182880"/>
          </a:xfrm>
          <a:prstGeom prst="rect">
            <a:avLst/>
          </a:prstGeom>
          <a:noFill/>
          <a:ln/>
        </p:spPr>
        <p:txBody>
          <a:bodyPr wrap="square" lIns="0" tIns="0" rIns="0" bIns="0" rtlCol="0" anchor="ctr"/>
          <a:lstStyle/>
          <a:p>
            <a:pPr marL="0" indent="0">
              <a:buNone/>
            </a:pPr>
            <a:r>
              <a:rPr lang="en-US" sz="750" dirty="0">
                <a:solidFill>
                  <a:srgbClr val="8AAA88"/>
                </a:solidFill>
                <a:latin typeface="Calibri" pitchFamily="34" charset="0"/>
                <a:ea typeface="Calibri" pitchFamily="34" charset="-122"/>
                <a:cs typeface="Calibri" pitchFamily="34" charset="-120"/>
              </a:rPr>
              <a:t>Protein 30%</a:t>
            </a:r>
            <a:endParaRPr lang="en-US" sz="750" dirty="0"/>
          </a:p>
        </p:txBody>
      </p:sp>
      <p:sp>
        <p:nvSpPr>
          <p:cNvPr id="26" name="Shape 15"/>
          <p:cNvSpPr/>
          <p:nvPr/>
        </p:nvSpPr>
        <p:spPr>
          <a:xfrm>
            <a:off x="6601968" y="1298448"/>
            <a:ext cx="91440" cy="91440"/>
          </a:xfrm>
          <a:prstGeom prst="ellipse">
            <a:avLst/>
          </a:prstGeom>
          <a:solidFill>
            <a:srgbClr val="F97316"/>
          </a:solidFill>
          <a:ln w="12700">
            <a:solidFill>
              <a:srgbClr val="F97316"/>
            </a:solidFill>
            <a:prstDash val="solid"/>
          </a:ln>
        </p:spPr>
        <p:txBody>
          <a:bodyPr/>
          <a:lstStyle/>
          <a:p>
            <a:endParaRPr lang="en-US"/>
          </a:p>
        </p:txBody>
      </p:sp>
      <p:sp>
        <p:nvSpPr>
          <p:cNvPr id="27" name="Text 16"/>
          <p:cNvSpPr/>
          <p:nvPr/>
        </p:nvSpPr>
        <p:spPr>
          <a:xfrm>
            <a:off x="6729984" y="1261872"/>
            <a:ext cx="822960" cy="182880"/>
          </a:xfrm>
          <a:prstGeom prst="rect">
            <a:avLst/>
          </a:prstGeom>
          <a:noFill/>
          <a:ln/>
        </p:spPr>
        <p:txBody>
          <a:bodyPr wrap="square" lIns="0" tIns="0" rIns="0" bIns="0" rtlCol="0" anchor="ctr"/>
          <a:lstStyle/>
          <a:p>
            <a:pPr marL="0" indent="0">
              <a:buNone/>
            </a:pPr>
            <a:r>
              <a:rPr lang="en-US" sz="750" dirty="0">
                <a:solidFill>
                  <a:srgbClr val="8AAA88"/>
                </a:solidFill>
                <a:latin typeface="Calibri" pitchFamily="34" charset="0"/>
                <a:ea typeface="Calibri" pitchFamily="34" charset="-122"/>
                <a:cs typeface="Calibri" pitchFamily="34" charset="-120"/>
              </a:rPr>
              <a:t>Carbs 45%</a:t>
            </a:r>
            <a:endParaRPr lang="en-US" sz="750" dirty="0"/>
          </a:p>
        </p:txBody>
      </p:sp>
      <p:sp>
        <p:nvSpPr>
          <p:cNvPr id="28" name="Shape 17"/>
          <p:cNvSpPr/>
          <p:nvPr/>
        </p:nvSpPr>
        <p:spPr>
          <a:xfrm>
            <a:off x="7516368" y="1298448"/>
            <a:ext cx="91440" cy="91440"/>
          </a:xfrm>
          <a:prstGeom prst="ellipse">
            <a:avLst/>
          </a:prstGeom>
          <a:solidFill>
            <a:srgbClr val="3B82F6"/>
          </a:solidFill>
          <a:ln w="12700">
            <a:solidFill>
              <a:srgbClr val="3B82F6"/>
            </a:solidFill>
            <a:prstDash val="solid"/>
          </a:ln>
        </p:spPr>
        <p:txBody>
          <a:bodyPr/>
          <a:lstStyle/>
          <a:p>
            <a:endParaRPr lang="en-US"/>
          </a:p>
        </p:txBody>
      </p:sp>
      <p:sp>
        <p:nvSpPr>
          <p:cNvPr id="29" name="Text 18"/>
          <p:cNvSpPr/>
          <p:nvPr/>
        </p:nvSpPr>
        <p:spPr>
          <a:xfrm>
            <a:off x="7644384" y="1261872"/>
            <a:ext cx="822960" cy="182880"/>
          </a:xfrm>
          <a:prstGeom prst="rect">
            <a:avLst/>
          </a:prstGeom>
          <a:noFill/>
          <a:ln/>
        </p:spPr>
        <p:txBody>
          <a:bodyPr wrap="square" lIns="0" tIns="0" rIns="0" bIns="0" rtlCol="0" anchor="ctr"/>
          <a:lstStyle/>
          <a:p>
            <a:pPr marL="0" indent="0">
              <a:buNone/>
            </a:pPr>
            <a:r>
              <a:rPr lang="en-US" sz="750" dirty="0">
                <a:solidFill>
                  <a:srgbClr val="8AAA88"/>
                </a:solidFill>
                <a:latin typeface="Calibri" pitchFamily="34" charset="0"/>
                <a:ea typeface="Calibri" pitchFamily="34" charset="-122"/>
                <a:cs typeface="Calibri" pitchFamily="34" charset="-120"/>
              </a:rPr>
              <a:t>Fat 25%</a:t>
            </a:r>
            <a:endParaRPr lang="en-US" sz="750" dirty="0"/>
          </a:p>
        </p:txBody>
      </p:sp>
      <p:sp>
        <p:nvSpPr>
          <p:cNvPr id="30" name="Shape 19"/>
          <p:cNvSpPr/>
          <p:nvPr/>
        </p:nvSpPr>
        <p:spPr>
          <a:xfrm>
            <a:off x="6355080" y="1572768"/>
            <a:ext cx="1508760" cy="1508760"/>
          </a:xfrm>
          <a:prstGeom prst="ellipse">
            <a:avLst/>
          </a:prstGeom>
          <a:solidFill>
            <a:srgbClr val="0D1A0D"/>
          </a:solidFill>
          <a:ln w="38100">
            <a:solidFill>
              <a:srgbClr val="3CB371"/>
            </a:solidFill>
            <a:prstDash val="solid"/>
          </a:ln>
        </p:spPr>
        <p:txBody>
          <a:bodyPr/>
          <a:lstStyle/>
          <a:p>
            <a:endParaRPr lang="en-US"/>
          </a:p>
        </p:txBody>
      </p:sp>
      <p:sp>
        <p:nvSpPr>
          <p:cNvPr id="31" name="Shape 20"/>
          <p:cNvSpPr/>
          <p:nvPr/>
        </p:nvSpPr>
        <p:spPr>
          <a:xfrm>
            <a:off x="6510528" y="1719072"/>
            <a:ext cx="1188720" cy="1188720"/>
          </a:xfrm>
          <a:prstGeom prst="ellipse">
            <a:avLst/>
          </a:prstGeom>
          <a:solidFill>
            <a:srgbClr val="0D1A0D"/>
          </a:solidFill>
          <a:ln w="25400">
            <a:solidFill>
              <a:srgbClr val="8BC34A"/>
            </a:solidFill>
            <a:prstDash val="solid"/>
          </a:ln>
        </p:spPr>
        <p:txBody>
          <a:bodyPr/>
          <a:lstStyle/>
          <a:p>
            <a:endParaRPr lang="en-US"/>
          </a:p>
        </p:txBody>
      </p:sp>
      <p:sp>
        <p:nvSpPr>
          <p:cNvPr id="32" name="Text 21"/>
          <p:cNvSpPr/>
          <p:nvPr/>
        </p:nvSpPr>
        <p:spPr>
          <a:xfrm>
            <a:off x="6355080" y="2084832"/>
            <a:ext cx="1508760"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1,840</a:t>
            </a:r>
            <a:endParaRPr lang="en-US" sz="1800" dirty="0"/>
          </a:p>
        </p:txBody>
      </p:sp>
      <p:sp>
        <p:nvSpPr>
          <p:cNvPr id="33" name="Text 22"/>
          <p:cNvSpPr/>
          <p:nvPr/>
        </p:nvSpPr>
        <p:spPr>
          <a:xfrm>
            <a:off x="6355080" y="2423160"/>
            <a:ext cx="1508760" cy="182880"/>
          </a:xfrm>
          <a:prstGeom prst="rect">
            <a:avLst/>
          </a:prstGeom>
          <a:noFill/>
          <a:ln/>
        </p:spPr>
        <p:txBody>
          <a:bodyPr wrap="square" lIns="0" tIns="0" rIns="0" bIns="0" rtlCol="0" anchor="ctr"/>
          <a:lstStyle/>
          <a:p>
            <a:pPr marL="0" indent="0" algn="ctr">
              <a:buNone/>
            </a:pPr>
            <a:r>
              <a:rPr lang="en-US" sz="850" dirty="0">
                <a:solidFill>
                  <a:srgbClr val="6A9A6A"/>
                </a:solidFill>
                <a:latin typeface="Calibri" pitchFamily="34" charset="0"/>
                <a:ea typeface="Calibri" pitchFamily="34" charset="-122"/>
                <a:cs typeface="Calibri" pitchFamily="34" charset="-120"/>
              </a:rPr>
              <a:t>kcal</a:t>
            </a:r>
            <a:endParaRPr lang="en-US" sz="850" dirty="0"/>
          </a:p>
        </p:txBody>
      </p:sp>
      <p:sp>
        <p:nvSpPr>
          <p:cNvPr id="34" name="Shape 23"/>
          <p:cNvSpPr/>
          <p:nvPr/>
        </p:nvSpPr>
        <p:spPr>
          <a:xfrm>
            <a:off x="5687568" y="3218688"/>
            <a:ext cx="2907792" cy="274320"/>
          </a:xfrm>
          <a:prstGeom prst="roundRect">
            <a:avLst>
              <a:gd name="adj" fmla="val 26667"/>
            </a:avLst>
          </a:prstGeom>
          <a:solidFill>
            <a:srgbClr val="1E2E1E"/>
          </a:solidFill>
          <a:ln w="7620">
            <a:solidFill>
              <a:srgbClr val="F59E0B"/>
            </a:solidFill>
            <a:prstDash val="solid"/>
          </a:ln>
        </p:spPr>
        <p:txBody>
          <a:bodyPr/>
          <a:lstStyle/>
          <a:p>
            <a:endParaRPr lang="en-US"/>
          </a:p>
        </p:txBody>
      </p:sp>
      <p:sp>
        <p:nvSpPr>
          <p:cNvPr id="35" name="Shape 24"/>
          <p:cNvSpPr/>
          <p:nvPr/>
        </p:nvSpPr>
        <p:spPr>
          <a:xfrm>
            <a:off x="5760720" y="3300984"/>
            <a:ext cx="109728" cy="109728"/>
          </a:xfrm>
          <a:prstGeom prst="ellipse">
            <a:avLst/>
          </a:prstGeom>
          <a:solidFill>
            <a:srgbClr val="F59E0B"/>
          </a:solidFill>
          <a:ln w="12700">
            <a:solidFill>
              <a:srgbClr val="F59E0B"/>
            </a:solidFill>
            <a:prstDash val="solid"/>
          </a:ln>
        </p:spPr>
        <p:txBody>
          <a:bodyPr/>
          <a:lstStyle/>
          <a:p>
            <a:endParaRPr lang="en-US"/>
          </a:p>
        </p:txBody>
      </p:sp>
      <p:sp>
        <p:nvSpPr>
          <p:cNvPr id="36" name="Text 25"/>
          <p:cNvSpPr/>
          <p:nvPr/>
        </p:nvSpPr>
        <p:spPr>
          <a:xfrm>
            <a:off x="5943600" y="3255264"/>
            <a:ext cx="1371600" cy="201168"/>
          </a:xfrm>
          <a:prstGeom prst="rect">
            <a:avLst/>
          </a:prstGeom>
          <a:noFill/>
          <a:ln/>
        </p:spPr>
        <p:txBody>
          <a:bodyPr wrap="square" lIns="0" tIns="0" rIns="0" bIns="0" rtlCol="0" anchor="ctr"/>
          <a:lstStyle/>
          <a:p>
            <a:pPr marL="0" indent="0">
              <a:buNone/>
            </a:pPr>
            <a:r>
              <a:rPr lang="en-US" sz="900" dirty="0">
                <a:solidFill>
                  <a:srgbClr val="CCDDCC"/>
                </a:solidFill>
                <a:latin typeface="Calibri" pitchFamily="34" charset="0"/>
                <a:ea typeface="Calibri" pitchFamily="34" charset="-122"/>
                <a:cs typeface="Calibri" pitchFamily="34" charset="-120"/>
              </a:rPr>
              <a:t>Breakfast</a:t>
            </a:r>
            <a:endParaRPr lang="en-US" sz="900" dirty="0"/>
          </a:p>
        </p:txBody>
      </p:sp>
      <p:sp>
        <p:nvSpPr>
          <p:cNvPr id="37" name="Text 26"/>
          <p:cNvSpPr/>
          <p:nvPr/>
        </p:nvSpPr>
        <p:spPr>
          <a:xfrm>
            <a:off x="7223760" y="3255264"/>
            <a:ext cx="1280160" cy="201168"/>
          </a:xfrm>
          <a:prstGeom prst="rect">
            <a:avLst/>
          </a:prstGeom>
          <a:noFill/>
          <a:ln/>
        </p:spPr>
        <p:txBody>
          <a:bodyPr wrap="square" lIns="0" tIns="0" rIns="0" bIns="0" rtlCol="0" anchor="ctr"/>
          <a:lstStyle/>
          <a:p>
            <a:pPr marL="0" indent="0" algn="r">
              <a:buNone/>
            </a:pPr>
            <a:r>
              <a:rPr lang="en-US" sz="900" dirty="0">
                <a:solidFill>
                  <a:srgbClr val="F59E0B"/>
                </a:solidFill>
                <a:latin typeface="Calibri" pitchFamily="34" charset="0"/>
                <a:ea typeface="Calibri" pitchFamily="34" charset="-122"/>
                <a:cs typeface="Calibri" pitchFamily="34" charset="-120"/>
              </a:rPr>
              <a:t>420 kcal</a:t>
            </a:r>
            <a:endParaRPr lang="en-US" sz="900" dirty="0"/>
          </a:p>
        </p:txBody>
      </p:sp>
      <p:sp>
        <p:nvSpPr>
          <p:cNvPr id="38" name="Shape 27"/>
          <p:cNvSpPr/>
          <p:nvPr/>
        </p:nvSpPr>
        <p:spPr>
          <a:xfrm>
            <a:off x="5687568" y="3566160"/>
            <a:ext cx="2907792" cy="274320"/>
          </a:xfrm>
          <a:prstGeom prst="roundRect">
            <a:avLst>
              <a:gd name="adj" fmla="val 26667"/>
            </a:avLst>
          </a:prstGeom>
          <a:solidFill>
            <a:srgbClr val="1E2E1E"/>
          </a:solidFill>
          <a:ln w="7620">
            <a:solidFill>
              <a:srgbClr val="3CB371"/>
            </a:solidFill>
            <a:prstDash val="solid"/>
          </a:ln>
        </p:spPr>
        <p:txBody>
          <a:bodyPr/>
          <a:lstStyle/>
          <a:p>
            <a:endParaRPr lang="en-US"/>
          </a:p>
        </p:txBody>
      </p:sp>
      <p:sp>
        <p:nvSpPr>
          <p:cNvPr id="39" name="Shape 28"/>
          <p:cNvSpPr/>
          <p:nvPr/>
        </p:nvSpPr>
        <p:spPr>
          <a:xfrm>
            <a:off x="5760720" y="3648456"/>
            <a:ext cx="109728" cy="109728"/>
          </a:xfrm>
          <a:prstGeom prst="ellipse">
            <a:avLst/>
          </a:prstGeom>
          <a:solidFill>
            <a:srgbClr val="3CB371"/>
          </a:solidFill>
          <a:ln w="12700">
            <a:solidFill>
              <a:srgbClr val="3CB371"/>
            </a:solidFill>
            <a:prstDash val="solid"/>
          </a:ln>
        </p:spPr>
        <p:txBody>
          <a:bodyPr/>
          <a:lstStyle/>
          <a:p>
            <a:endParaRPr lang="en-US"/>
          </a:p>
        </p:txBody>
      </p:sp>
      <p:sp>
        <p:nvSpPr>
          <p:cNvPr id="40" name="Text 29"/>
          <p:cNvSpPr/>
          <p:nvPr/>
        </p:nvSpPr>
        <p:spPr>
          <a:xfrm>
            <a:off x="5943600" y="3602736"/>
            <a:ext cx="1371600" cy="201168"/>
          </a:xfrm>
          <a:prstGeom prst="rect">
            <a:avLst/>
          </a:prstGeom>
          <a:noFill/>
          <a:ln/>
        </p:spPr>
        <p:txBody>
          <a:bodyPr wrap="square" lIns="0" tIns="0" rIns="0" bIns="0" rtlCol="0" anchor="ctr"/>
          <a:lstStyle/>
          <a:p>
            <a:pPr marL="0" indent="0">
              <a:buNone/>
            </a:pPr>
            <a:r>
              <a:rPr lang="en-US" sz="900" dirty="0">
                <a:solidFill>
                  <a:srgbClr val="CCDDCC"/>
                </a:solidFill>
                <a:latin typeface="Calibri" pitchFamily="34" charset="0"/>
                <a:ea typeface="Calibri" pitchFamily="34" charset="-122"/>
                <a:cs typeface="Calibri" pitchFamily="34" charset="-120"/>
              </a:rPr>
              <a:t>Lunch</a:t>
            </a:r>
            <a:endParaRPr lang="en-US" sz="900" dirty="0"/>
          </a:p>
        </p:txBody>
      </p:sp>
      <p:sp>
        <p:nvSpPr>
          <p:cNvPr id="41" name="Text 30"/>
          <p:cNvSpPr/>
          <p:nvPr/>
        </p:nvSpPr>
        <p:spPr>
          <a:xfrm>
            <a:off x="7223760" y="3602736"/>
            <a:ext cx="1280160" cy="201168"/>
          </a:xfrm>
          <a:prstGeom prst="rect">
            <a:avLst/>
          </a:prstGeom>
          <a:noFill/>
          <a:ln/>
        </p:spPr>
        <p:txBody>
          <a:bodyPr wrap="square" lIns="0" tIns="0" rIns="0" bIns="0" rtlCol="0" anchor="ctr"/>
          <a:lstStyle/>
          <a:p>
            <a:pPr marL="0" indent="0" algn="r">
              <a:buNone/>
            </a:pPr>
            <a:r>
              <a:rPr lang="en-US" sz="900" dirty="0">
                <a:solidFill>
                  <a:srgbClr val="3CB371"/>
                </a:solidFill>
                <a:latin typeface="Calibri" pitchFamily="34" charset="0"/>
                <a:ea typeface="Calibri" pitchFamily="34" charset="-122"/>
                <a:cs typeface="Calibri" pitchFamily="34" charset="-120"/>
              </a:rPr>
              <a:t>680 kcal</a:t>
            </a:r>
            <a:endParaRPr lang="en-US" sz="900" dirty="0"/>
          </a:p>
        </p:txBody>
      </p:sp>
      <p:sp>
        <p:nvSpPr>
          <p:cNvPr id="42" name="Shape 31"/>
          <p:cNvSpPr/>
          <p:nvPr/>
        </p:nvSpPr>
        <p:spPr>
          <a:xfrm>
            <a:off x="5687568" y="3913632"/>
            <a:ext cx="2907792" cy="274320"/>
          </a:xfrm>
          <a:prstGeom prst="roundRect">
            <a:avLst>
              <a:gd name="adj" fmla="val 26667"/>
            </a:avLst>
          </a:prstGeom>
          <a:solidFill>
            <a:srgbClr val="1E2E1E"/>
          </a:solidFill>
          <a:ln w="7620">
            <a:solidFill>
              <a:srgbClr val="14B8A6"/>
            </a:solidFill>
            <a:prstDash val="solid"/>
          </a:ln>
        </p:spPr>
        <p:txBody>
          <a:bodyPr/>
          <a:lstStyle/>
          <a:p>
            <a:endParaRPr lang="en-US"/>
          </a:p>
        </p:txBody>
      </p:sp>
      <p:sp>
        <p:nvSpPr>
          <p:cNvPr id="43" name="Shape 32"/>
          <p:cNvSpPr/>
          <p:nvPr/>
        </p:nvSpPr>
        <p:spPr>
          <a:xfrm>
            <a:off x="5760720" y="3995928"/>
            <a:ext cx="109728" cy="109728"/>
          </a:xfrm>
          <a:prstGeom prst="ellipse">
            <a:avLst/>
          </a:prstGeom>
          <a:solidFill>
            <a:srgbClr val="14B8A6"/>
          </a:solidFill>
          <a:ln w="12700">
            <a:solidFill>
              <a:srgbClr val="14B8A6"/>
            </a:solidFill>
            <a:prstDash val="solid"/>
          </a:ln>
        </p:spPr>
        <p:txBody>
          <a:bodyPr/>
          <a:lstStyle/>
          <a:p>
            <a:endParaRPr lang="en-US"/>
          </a:p>
        </p:txBody>
      </p:sp>
      <p:sp>
        <p:nvSpPr>
          <p:cNvPr id="44" name="Text 33"/>
          <p:cNvSpPr/>
          <p:nvPr/>
        </p:nvSpPr>
        <p:spPr>
          <a:xfrm>
            <a:off x="5943600" y="3950208"/>
            <a:ext cx="1371600" cy="201168"/>
          </a:xfrm>
          <a:prstGeom prst="rect">
            <a:avLst/>
          </a:prstGeom>
          <a:noFill/>
          <a:ln/>
        </p:spPr>
        <p:txBody>
          <a:bodyPr wrap="square" lIns="0" tIns="0" rIns="0" bIns="0" rtlCol="0" anchor="ctr"/>
          <a:lstStyle/>
          <a:p>
            <a:pPr marL="0" indent="0">
              <a:buNone/>
            </a:pPr>
            <a:r>
              <a:rPr lang="en-US" sz="900" dirty="0">
                <a:solidFill>
                  <a:srgbClr val="CCDDCC"/>
                </a:solidFill>
                <a:latin typeface="Calibri" pitchFamily="34" charset="0"/>
                <a:ea typeface="Calibri" pitchFamily="34" charset="-122"/>
                <a:cs typeface="Calibri" pitchFamily="34" charset="-120"/>
              </a:rPr>
              <a:t>Dinner</a:t>
            </a:r>
            <a:endParaRPr lang="en-US" sz="900" dirty="0"/>
          </a:p>
        </p:txBody>
      </p:sp>
      <p:sp>
        <p:nvSpPr>
          <p:cNvPr id="45" name="Text 34"/>
          <p:cNvSpPr/>
          <p:nvPr/>
        </p:nvSpPr>
        <p:spPr>
          <a:xfrm>
            <a:off x="7223760" y="3950208"/>
            <a:ext cx="1280160" cy="201168"/>
          </a:xfrm>
          <a:prstGeom prst="rect">
            <a:avLst/>
          </a:prstGeom>
          <a:noFill/>
          <a:ln/>
        </p:spPr>
        <p:txBody>
          <a:bodyPr wrap="square" lIns="0" tIns="0" rIns="0" bIns="0" rtlCol="0" anchor="ctr"/>
          <a:lstStyle/>
          <a:p>
            <a:pPr marL="0" indent="0" algn="r">
              <a:buNone/>
            </a:pPr>
            <a:r>
              <a:rPr lang="en-US" sz="900" dirty="0">
                <a:solidFill>
                  <a:srgbClr val="14B8A6"/>
                </a:solidFill>
                <a:latin typeface="Calibri" pitchFamily="34" charset="0"/>
                <a:ea typeface="Calibri" pitchFamily="34" charset="-122"/>
                <a:cs typeface="Calibri" pitchFamily="34" charset="-120"/>
              </a:rPr>
              <a:t>580 kcal</a:t>
            </a:r>
            <a:endParaRPr lang="en-US" sz="900" dirty="0"/>
          </a:p>
        </p:txBody>
      </p:sp>
      <p:sp>
        <p:nvSpPr>
          <p:cNvPr id="46" name="Shape 35"/>
          <p:cNvSpPr/>
          <p:nvPr/>
        </p:nvSpPr>
        <p:spPr>
          <a:xfrm>
            <a:off x="5650992" y="4315968"/>
            <a:ext cx="713232" cy="182880"/>
          </a:xfrm>
          <a:prstGeom prst="roundRect">
            <a:avLst>
              <a:gd name="adj" fmla="val 50000"/>
            </a:avLst>
          </a:prstGeom>
          <a:solidFill>
            <a:srgbClr val="0A150A"/>
          </a:solidFill>
          <a:ln w="7620">
            <a:solidFill>
              <a:srgbClr val="3CB371"/>
            </a:solidFill>
            <a:prstDash val="solid"/>
          </a:ln>
        </p:spPr>
        <p:txBody>
          <a:bodyPr/>
          <a:lstStyle/>
          <a:p>
            <a:endParaRPr lang="en-US"/>
          </a:p>
        </p:txBody>
      </p:sp>
      <p:sp>
        <p:nvSpPr>
          <p:cNvPr id="47" name="Text 36"/>
          <p:cNvSpPr/>
          <p:nvPr/>
        </p:nvSpPr>
        <p:spPr>
          <a:xfrm>
            <a:off x="5650992" y="4319626"/>
            <a:ext cx="713232" cy="173736"/>
          </a:xfrm>
          <a:prstGeom prst="rect">
            <a:avLst/>
          </a:prstGeom>
          <a:noFill/>
          <a:ln/>
        </p:spPr>
        <p:txBody>
          <a:bodyPr wrap="square" lIns="0" tIns="0" rIns="0" bIns="0" rtlCol="0" anchor="ctr"/>
          <a:lstStyle/>
          <a:p>
            <a:pPr marL="0" indent="0" algn="ctr">
              <a:buNone/>
            </a:pPr>
            <a:r>
              <a:rPr lang="en-US" sz="650" b="1" dirty="0">
                <a:solidFill>
                  <a:srgbClr val="3CB371"/>
                </a:solidFill>
                <a:latin typeface="Calibri" pitchFamily="34" charset="0"/>
                <a:ea typeface="Calibri" pitchFamily="34" charset="-122"/>
                <a:cs typeface="Calibri" pitchFamily="34" charset="-120"/>
              </a:rPr>
              <a:t>Meal Plans</a:t>
            </a:r>
            <a:endParaRPr lang="en-US" sz="650" dirty="0"/>
          </a:p>
        </p:txBody>
      </p:sp>
      <p:sp>
        <p:nvSpPr>
          <p:cNvPr id="48" name="Shape 37"/>
          <p:cNvSpPr/>
          <p:nvPr/>
        </p:nvSpPr>
        <p:spPr>
          <a:xfrm>
            <a:off x="6437376" y="4315968"/>
            <a:ext cx="713232" cy="182880"/>
          </a:xfrm>
          <a:prstGeom prst="roundRect">
            <a:avLst>
              <a:gd name="adj" fmla="val 50000"/>
            </a:avLst>
          </a:prstGeom>
          <a:solidFill>
            <a:srgbClr val="0A150A"/>
          </a:solidFill>
          <a:ln w="7620">
            <a:solidFill>
              <a:srgbClr val="3CB371"/>
            </a:solidFill>
            <a:prstDash val="solid"/>
          </a:ln>
        </p:spPr>
        <p:txBody>
          <a:bodyPr/>
          <a:lstStyle/>
          <a:p>
            <a:endParaRPr lang="en-US"/>
          </a:p>
        </p:txBody>
      </p:sp>
      <p:sp>
        <p:nvSpPr>
          <p:cNvPr id="49" name="Text 38"/>
          <p:cNvSpPr/>
          <p:nvPr/>
        </p:nvSpPr>
        <p:spPr>
          <a:xfrm>
            <a:off x="6437376" y="4319626"/>
            <a:ext cx="713232" cy="173736"/>
          </a:xfrm>
          <a:prstGeom prst="rect">
            <a:avLst/>
          </a:prstGeom>
          <a:noFill/>
          <a:ln/>
        </p:spPr>
        <p:txBody>
          <a:bodyPr wrap="square" lIns="0" tIns="0" rIns="0" bIns="0" rtlCol="0" anchor="ctr"/>
          <a:lstStyle/>
          <a:p>
            <a:pPr marL="0" indent="0" algn="ctr">
              <a:buNone/>
            </a:pPr>
            <a:r>
              <a:rPr lang="en-US" sz="650" b="1" dirty="0">
                <a:solidFill>
                  <a:srgbClr val="3CB371"/>
                </a:solidFill>
                <a:latin typeface="Calibri" pitchFamily="34" charset="0"/>
                <a:ea typeface="Calibri" pitchFamily="34" charset="-122"/>
                <a:cs typeface="Calibri" pitchFamily="34" charset="-120"/>
              </a:rPr>
              <a:t>AI Research</a:t>
            </a:r>
            <a:endParaRPr lang="en-US" sz="650" dirty="0"/>
          </a:p>
        </p:txBody>
      </p:sp>
      <p:sp>
        <p:nvSpPr>
          <p:cNvPr id="50" name="Shape 39"/>
          <p:cNvSpPr/>
          <p:nvPr/>
        </p:nvSpPr>
        <p:spPr>
          <a:xfrm>
            <a:off x="7223760" y="4315968"/>
            <a:ext cx="713232" cy="182880"/>
          </a:xfrm>
          <a:prstGeom prst="roundRect">
            <a:avLst>
              <a:gd name="adj" fmla="val 50000"/>
            </a:avLst>
          </a:prstGeom>
          <a:solidFill>
            <a:srgbClr val="0A150A"/>
          </a:solidFill>
          <a:ln w="7620">
            <a:solidFill>
              <a:srgbClr val="3CB371"/>
            </a:solidFill>
            <a:prstDash val="solid"/>
          </a:ln>
        </p:spPr>
        <p:txBody>
          <a:bodyPr/>
          <a:lstStyle/>
          <a:p>
            <a:endParaRPr lang="en-US"/>
          </a:p>
        </p:txBody>
      </p:sp>
      <p:sp>
        <p:nvSpPr>
          <p:cNvPr id="51" name="Text 40"/>
          <p:cNvSpPr/>
          <p:nvPr/>
        </p:nvSpPr>
        <p:spPr>
          <a:xfrm>
            <a:off x="7223760" y="4319626"/>
            <a:ext cx="713232" cy="173736"/>
          </a:xfrm>
          <a:prstGeom prst="rect">
            <a:avLst/>
          </a:prstGeom>
          <a:noFill/>
          <a:ln/>
        </p:spPr>
        <p:txBody>
          <a:bodyPr wrap="square" lIns="0" tIns="0" rIns="0" bIns="0" rtlCol="0" anchor="ctr"/>
          <a:lstStyle/>
          <a:p>
            <a:pPr marL="0" indent="0" algn="ctr">
              <a:buNone/>
            </a:pPr>
            <a:r>
              <a:rPr lang="en-US" sz="650" b="1" dirty="0">
                <a:solidFill>
                  <a:srgbClr val="3CB371"/>
                </a:solidFill>
                <a:latin typeface="Calibri" pitchFamily="34" charset="0"/>
                <a:ea typeface="Calibri" pitchFamily="34" charset="-122"/>
                <a:cs typeface="Calibri" pitchFamily="34" charset="-120"/>
              </a:rPr>
              <a:t>Ordering</a:t>
            </a:r>
            <a:endParaRPr lang="en-US" sz="650" dirty="0"/>
          </a:p>
        </p:txBody>
      </p:sp>
      <p:sp>
        <p:nvSpPr>
          <p:cNvPr id="52" name="Shape 41"/>
          <p:cNvSpPr/>
          <p:nvPr/>
        </p:nvSpPr>
        <p:spPr>
          <a:xfrm>
            <a:off x="8010144" y="4315968"/>
            <a:ext cx="713232" cy="182880"/>
          </a:xfrm>
          <a:prstGeom prst="roundRect">
            <a:avLst>
              <a:gd name="adj" fmla="val 50000"/>
            </a:avLst>
          </a:prstGeom>
          <a:solidFill>
            <a:srgbClr val="0A150A"/>
          </a:solidFill>
          <a:ln w="7620">
            <a:solidFill>
              <a:srgbClr val="3CB371"/>
            </a:solidFill>
            <a:prstDash val="solid"/>
          </a:ln>
        </p:spPr>
        <p:txBody>
          <a:bodyPr/>
          <a:lstStyle/>
          <a:p>
            <a:endParaRPr lang="en-US"/>
          </a:p>
        </p:txBody>
      </p:sp>
      <p:sp>
        <p:nvSpPr>
          <p:cNvPr id="53" name="Text 42"/>
          <p:cNvSpPr/>
          <p:nvPr/>
        </p:nvSpPr>
        <p:spPr>
          <a:xfrm>
            <a:off x="8010144" y="4319626"/>
            <a:ext cx="713232" cy="173736"/>
          </a:xfrm>
          <a:prstGeom prst="rect">
            <a:avLst/>
          </a:prstGeom>
          <a:noFill/>
          <a:ln/>
        </p:spPr>
        <p:txBody>
          <a:bodyPr wrap="square" lIns="0" tIns="0" rIns="0" bIns="0" rtlCol="0" anchor="ctr"/>
          <a:lstStyle/>
          <a:p>
            <a:pPr marL="0" indent="0" algn="ctr">
              <a:buNone/>
            </a:pPr>
            <a:r>
              <a:rPr lang="en-US" sz="650" b="1" dirty="0">
                <a:solidFill>
                  <a:srgbClr val="3CB371"/>
                </a:solidFill>
                <a:latin typeface="Calibri" pitchFamily="34" charset="0"/>
                <a:ea typeface="Calibri" pitchFamily="34" charset="-122"/>
                <a:cs typeface="Calibri" pitchFamily="34" charset="-120"/>
              </a:rPr>
              <a:t>Tracking</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40080"/>
          </a:xfrm>
          <a:prstGeom prst="rect">
            <a:avLst/>
          </a:prstGeom>
        </p:spPr>
      </p:pic>
      <p:pic>
        <p:nvPicPr>
          <p:cNvPr id="3" name="Image 1" descr="preencoded.png"/>
          <p:cNvPicPr>
            <a:picLocks noChangeAspect="1"/>
          </p:cNvPicPr>
          <p:nvPr/>
        </p:nvPicPr>
        <p:blipFill>
          <a:blip r:embed="rId4"/>
          <a:stretch>
            <a:fillRect/>
          </a:stretch>
        </p:blipFill>
        <p:spPr>
          <a:xfrm>
            <a:off x="6858000" y="1371600"/>
            <a:ext cx="2926080" cy="2926080"/>
          </a:xfrm>
          <a:prstGeom prst="rect">
            <a:avLst/>
          </a:prstGeom>
        </p:spPr>
      </p:pic>
      <p:pic>
        <p:nvPicPr>
          <p:cNvPr id="4" name="Image 2" descr="preencoded.png"/>
          <p:cNvPicPr>
            <a:picLocks noChangeAspect="1"/>
          </p:cNvPicPr>
          <p:nvPr/>
        </p:nvPicPr>
        <p:blipFill>
          <a:blip r:embed="rId5"/>
          <a:stretch>
            <a:fillRect/>
          </a:stretch>
        </p:blipFill>
        <p:spPr>
          <a:xfrm>
            <a:off x="-274320" y="3657600"/>
            <a:ext cx="2286000" cy="2286000"/>
          </a:xfrm>
          <a:prstGeom prst="rect">
            <a:avLst/>
          </a:prstGeom>
        </p:spPr>
      </p:pic>
      <p:sp>
        <p:nvSpPr>
          <p:cNvPr id="5" name="Shape 0"/>
          <p:cNvSpPr/>
          <p:nvPr/>
        </p:nvSpPr>
        <p:spPr>
          <a:xfrm>
            <a:off x="365760" y="137160"/>
            <a:ext cx="1005840" cy="219456"/>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Text 1"/>
          <p:cNvSpPr/>
          <p:nvPr/>
        </p:nvSpPr>
        <p:spPr>
          <a:xfrm>
            <a:off x="365760" y="141732"/>
            <a:ext cx="1005840" cy="210312"/>
          </a:xfrm>
          <a:prstGeom prst="rect">
            <a:avLst/>
          </a:prstGeom>
          <a:noFill/>
          <a:ln/>
        </p:spPr>
        <p:txBody>
          <a:bodyPr wrap="square" lIns="0" tIns="0" rIns="0" bIns="0" rtlCol="0" anchor="ctr"/>
          <a:lstStyle/>
          <a:p>
            <a:pPr marL="0" indent="0" algn="ctr">
              <a:buNone/>
            </a:pPr>
            <a:r>
              <a:rPr lang="en-US" sz="750" b="1" kern="0" spc="100" dirty="0">
                <a:solidFill>
                  <a:srgbClr val="27AE60"/>
                </a:solidFill>
                <a:latin typeface="Calibri" pitchFamily="34" charset="0"/>
                <a:ea typeface="Calibri" pitchFamily="34" charset="-122"/>
                <a:cs typeface="Calibri" pitchFamily="34" charset="-120"/>
              </a:rPr>
              <a:t>01  INTRO</a:t>
            </a:r>
            <a:endParaRPr lang="en-US" sz="750" dirty="0"/>
          </a:p>
        </p:txBody>
      </p:sp>
      <p:sp>
        <p:nvSpPr>
          <p:cNvPr id="7" name="Text 2"/>
          <p:cNvSpPr/>
          <p:nvPr/>
        </p:nvSpPr>
        <p:spPr>
          <a:xfrm>
            <a:off x="365760" y="749808"/>
            <a:ext cx="8229600" cy="594360"/>
          </a:xfrm>
          <a:prstGeom prst="rect">
            <a:avLst/>
          </a:prstGeom>
          <a:noFill/>
          <a:ln/>
        </p:spPr>
        <p:txBody>
          <a:bodyPr wrap="square" lIns="0" tIns="0" rIns="0" bIns="0" rtlCol="0" anchor="ctr"/>
          <a:lstStyle/>
          <a:p>
            <a:pPr marL="0" indent="0">
              <a:buNone/>
            </a:pPr>
            <a:r>
              <a:rPr lang="en-US" sz="3400" b="1" dirty="0">
                <a:solidFill>
                  <a:srgbClr val="1B2D1E"/>
                </a:solidFill>
                <a:latin typeface="Georgia" pitchFamily="34" charset="0"/>
                <a:ea typeface="Georgia" pitchFamily="34" charset="-122"/>
                <a:cs typeface="Georgia" pitchFamily="34" charset="-120"/>
              </a:rPr>
              <a:t>What is Just Eat?</a:t>
            </a:r>
            <a:endParaRPr lang="en-US" sz="3400" dirty="0"/>
          </a:p>
        </p:txBody>
      </p:sp>
      <p:sp>
        <p:nvSpPr>
          <p:cNvPr id="8" name="Text 3"/>
          <p:cNvSpPr/>
          <p:nvPr/>
        </p:nvSpPr>
        <p:spPr>
          <a:xfrm>
            <a:off x="365760" y="1389888"/>
            <a:ext cx="4480560" cy="329184"/>
          </a:xfrm>
          <a:prstGeom prst="rect">
            <a:avLst/>
          </a:prstGeom>
          <a:noFill/>
          <a:ln/>
        </p:spPr>
        <p:txBody>
          <a:bodyPr wrap="square" lIns="0" tIns="0" rIns="0" bIns="0" rtlCol="0" anchor="ctr"/>
          <a:lstStyle/>
          <a:p>
            <a:pPr marL="0" indent="0">
              <a:buNone/>
            </a:pPr>
            <a:r>
              <a:rPr lang="en-US" sz="1250" i="1" dirty="0">
                <a:solidFill>
                  <a:srgbClr val="6B8F6E"/>
                </a:solidFill>
                <a:latin typeface="Calibri" pitchFamily="34" charset="0"/>
                <a:ea typeface="Calibri" pitchFamily="34" charset="-122"/>
                <a:cs typeface="Calibri" pitchFamily="34" charset="-120"/>
              </a:rPr>
              <a:t>A full-stack nutrition &amp; food ordering platform that helps users eat smarter.</a:t>
            </a:r>
            <a:endParaRPr lang="en-US" sz="1250" dirty="0"/>
          </a:p>
        </p:txBody>
      </p:sp>
      <p:sp>
        <p:nvSpPr>
          <p:cNvPr id="9" name="Shape 4"/>
          <p:cNvSpPr/>
          <p:nvPr/>
        </p:nvSpPr>
        <p:spPr>
          <a:xfrm>
            <a:off x="365760" y="1938528"/>
            <a:ext cx="109728" cy="109728"/>
          </a:xfrm>
          <a:prstGeom prst="ellipse">
            <a:avLst/>
          </a:prstGeom>
          <a:solidFill>
            <a:srgbClr val="27AE60"/>
          </a:solidFill>
          <a:ln w="12700">
            <a:solidFill>
              <a:srgbClr val="27AE60"/>
            </a:solidFill>
            <a:prstDash val="solid"/>
          </a:ln>
        </p:spPr>
        <p:txBody>
          <a:bodyPr/>
          <a:lstStyle/>
          <a:p>
            <a:endParaRPr lang="en-US"/>
          </a:p>
        </p:txBody>
      </p:sp>
      <p:pic>
        <p:nvPicPr>
          <p:cNvPr id="10" name="Image 3" descr="preencoded.png"/>
          <p:cNvPicPr>
            <a:picLocks noChangeAspect="1"/>
          </p:cNvPicPr>
          <p:nvPr/>
        </p:nvPicPr>
        <p:blipFill>
          <a:blip r:embed="rId6"/>
          <a:stretch>
            <a:fillRect/>
          </a:stretch>
        </p:blipFill>
        <p:spPr>
          <a:xfrm>
            <a:off x="566928" y="1865376"/>
            <a:ext cx="219456" cy="219456"/>
          </a:xfrm>
          <a:prstGeom prst="rect">
            <a:avLst/>
          </a:prstGeom>
        </p:spPr>
      </p:pic>
      <p:sp>
        <p:nvSpPr>
          <p:cNvPr id="11" name="Text 5"/>
          <p:cNvSpPr/>
          <p:nvPr/>
        </p:nvSpPr>
        <p:spPr>
          <a:xfrm>
            <a:off x="877824" y="1828800"/>
            <a:ext cx="3657600" cy="329184"/>
          </a:xfrm>
          <a:prstGeom prst="rect">
            <a:avLst/>
          </a:prstGeom>
          <a:noFill/>
          <a:ln/>
        </p:spPr>
        <p:txBody>
          <a:bodyPr wrap="square" lIns="0" tIns="0" rIns="0" bIns="0" rtlCol="0" anchor="ctr"/>
          <a:lstStyle/>
          <a:p>
            <a:pPr marL="0" indent="0">
              <a:buNone/>
            </a:pPr>
            <a:r>
              <a:rPr lang="en-US" sz="1200" dirty="0">
                <a:solidFill>
                  <a:srgbClr val="2E4A32"/>
                </a:solidFill>
                <a:latin typeface="Calibri" pitchFamily="34" charset="0"/>
                <a:ea typeface="Calibri" pitchFamily="34" charset="-122"/>
                <a:cs typeface="Calibri" pitchFamily="34" charset="-120"/>
              </a:rPr>
              <a:t>Personalized meal plans from health data</a:t>
            </a:r>
            <a:endParaRPr lang="en-US" sz="1200" dirty="0"/>
          </a:p>
        </p:txBody>
      </p:sp>
      <p:sp>
        <p:nvSpPr>
          <p:cNvPr id="12" name="Shape 6"/>
          <p:cNvSpPr/>
          <p:nvPr/>
        </p:nvSpPr>
        <p:spPr>
          <a:xfrm>
            <a:off x="365760" y="2404872"/>
            <a:ext cx="109728" cy="109728"/>
          </a:xfrm>
          <a:prstGeom prst="ellipse">
            <a:avLst/>
          </a:prstGeom>
          <a:solidFill>
            <a:srgbClr val="F97316"/>
          </a:solidFill>
          <a:ln w="12700">
            <a:solidFill>
              <a:srgbClr val="F97316"/>
            </a:solidFill>
            <a:prstDash val="solid"/>
          </a:ln>
        </p:spPr>
        <p:txBody>
          <a:bodyPr/>
          <a:lstStyle/>
          <a:p>
            <a:endParaRPr lang="en-US"/>
          </a:p>
        </p:txBody>
      </p:sp>
      <p:pic>
        <p:nvPicPr>
          <p:cNvPr id="13" name="Image 4" descr="preencoded.png"/>
          <p:cNvPicPr>
            <a:picLocks noChangeAspect="1"/>
          </p:cNvPicPr>
          <p:nvPr/>
        </p:nvPicPr>
        <p:blipFill>
          <a:blip r:embed="rId7"/>
          <a:stretch>
            <a:fillRect/>
          </a:stretch>
        </p:blipFill>
        <p:spPr>
          <a:xfrm>
            <a:off x="566928" y="2331720"/>
            <a:ext cx="219456" cy="219456"/>
          </a:xfrm>
          <a:prstGeom prst="rect">
            <a:avLst/>
          </a:prstGeom>
        </p:spPr>
      </p:pic>
      <p:sp>
        <p:nvSpPr>
          <p:cNvPr id="14" name="Text 7"/>
          <p:cNvSpPr/>
          <p:nvPr/>
        </p:nvSpPr>
        <p:spPr>
          <a:xfrm>
            <a:off x="877824" y="2295144"/>
            <a:ext cx="3657600" cy="329184"/>
          </a:xfrm>
          <a:prstGeom prst="rect">
            <a:avLst/>
          </a:prstGeom>
          <a:noFill/>
          <a:ln/>
        </p:spPr>
        <p:txBody>
          <a:bodyPr wrap="square" lIns="0" tIns="0" rIns="0" bIns="0" rtlCol="0" anchor="ctr"/>
          <a:lstStyle/>
          <a:p>
            <a:pPr marL="0" indent="0">
              <a:buNone/>
            </a:pPr>
            <a:r>
              <a:rPr lang="en-US" sz="1200" dirty="0">
                <a:solidFill>
                  <a:srgbClr val="2E4A32"/>
                </a:solidFill>
                <a:latin typeface="Calibri" pitchFamily="34" charset="0"/>
                <a:ea typeface="Calibri" pitchFamily="34" charset="-122"/>
                <a:cs typeface="Calibri" pitchFamily="34" charset="-120"/>
              </a:rPr>
              <a:t>Order via DoorDash / Kroger APIs</a:t>
            </a:r>
            <a:endParaRPr lang="en-US" sz="1200" dirty="0"/>
          </a:p>
        </p:txBody>
      </p:sp>
      <p:sp>
        <p:nvSpPr>
          <p:cNvPr id="15" name="Shape 8"/>
          <p:cNvSpPr/>
          <p:nvPr/>
        </p:nvSpPr>
        <p:spPr>
          <a:xfrm>
            <a:off x="365760" y="2871216"/>
            <a:ext cx="109728" cy="109728"/>
          </a:xfrm>
          <a:prstGeom prst="ellipse">
            <a:avLst/>
          </a:prstGeom>
          <a:solidFill>
            <a:srgbClr val="8B5CF6"/>
          </a:solidFill>
          <a:ln w="12700">
            <a:solidFill>
              <a:srgbClr val="8B5CF6"/>
            </a:solidFill>
            <a:prstDash val="solid"/>
          </a:ln>
        </p:spPr>
        <p:txBody>
          <a:bodyPr/>
          <a:lstStyle/>
          <a:p>
            <a:endParaRPr lang="en-US"/>
          </a:p>
        </p:txBody>
      </p:sp>
      <p:pic>
        <p:nvPicPr>
          <p:cNvPr id="16" name="Image 5" descr="preencoded.png"/>
          <p:cNvPicPr>
            <a:picLocks noChangeAspect="1"/>
          </p:cNvPicPr>
          <p:nvPr/>
        </p:nvPicPr>
        <p:blipFill>
          <a:blip r:embed="rId8"/>
          <a:stretch>
            <a:fillRect/>
          </a:stretch>
        </p:blipFill>
        <p:spPr>
          <a:xfrm>
            <a:off x="566928" y="2798064"/>
            <a:ext cx="219456" cy="219456"/>
          </a:xfrm>
          <a:prstGeom prst="rect">
            <a:avLst/>
          </a:prstGeom>
        </p:spPr>
      </p:pic>
      <p:sp>
        <p:nvSpPr>
          <p:cNvPr id="17" name="Text 9"/>
          <p:cNvSpPr/>
          <p:nvPr/>
        </p:nvSpPr>
        <p:spPr>
          <a:xfrm>
            <a:off x="877824" y="2761488"/>
            <a:ext cx="3657600" cy="329184"/>
          </a:xfrm>
          <a:prstGeom prst="rect">
            <a:avLst/>
          </a:prstGeom>
          <a:noFill/>
          <a:ln/>
        </p:spPr>
        <p:txBody>
          <a:bodyPr wrap="square" lIns="0" tIns="0" rIns="0" bIns="0" rtlCol="0" anchor="ctr"/>
          <a:lstStyle/>
          <a:p>
            <a:pPr marL="0" indent="0">
              <a:buNone/>
            </a:pPr>
            <a:r>
              <a:rPr lang="en-US" sz="1200" dirty="0">
                <a:solidFill>
                  <a:srgbClr val="2E4A32"/>
                </a:solidFill>
                <a:latin typeface="Calibri" pitchFamily="34" charset="0"/>
                <a:ea typeface="Calibri" pitchFamily="34" charset="-122"/>
                <a:cs typeface="Calibri" pitchFamily="34" charset="-120"/>
              </a:rPr>
              <a:t>AI research assistant with citations</a:t>
            </a:r>
            <a:endParaRPr lang="en-US" sz="1200" dirty="0"/>
          </a:p>
        </p:txBody>
      </p:sp>
      <p:sp>
        <p:nvSpPr>
          <p:cNvPr id="18" name="Shape 10"/>
          <p:cNvSpPr/>
          <p:nvPr/>
        </p:nvSpPr>
        <p:spPr>
          <a:xfrm>
            <a:off x="365760" y="3337560"/>
            <a:ext cx="109728" cy="109728"/>
          </a:xfrm>
          <a:prstGeom prst="ellipse">
            <a:avLst/>
          </a:prstGeom>
          <a:solidFill>
            <a:srgbClr val="14B8A6"/>
          </a:solidFill>
          <a:ln w="12700">
            <a:solidFill>
              <a:srgbClr val="14B8A6"/>
            </a:solidFill>
            <a:prstDash val="solid"/>
          </a:ln>
        </p:spPr>
        <p:txBody>
          <a:bodyPr/>
          <a:lstStyle/>
          <a:p>
            <a:endParaRPr lang="en-US"/>
          </a:p>
        </p:txBody>
      </p:sp>
      <p:pic>
        <p:nvPicPr>
          <p:cNvPr id="19" name="Image 6" descr="preencoded.png"/>
          <p:cNvPicPr>
            <a:picLocks noChangeAspect="1"/>
          </p:cNvPicPr>
          <p:nvPr/>
        </p:nvPicPr>
        <p:blipFill>
          <a:blip r:embed="rId9"/>
          <a:stretch>
            <a:fillRect/>
          </a:stretch>
        </p:blipFill>
        <p:spPr>
          <a:xfrm>
            <a:off x="566928" y="3264408"/>
            <a:ext cx="219456" cy="219456"/>
          </a:xfrm>
          <a:prstGeom prst="rect">
            <a:avLst/>
          </a:prstGeom>
        </p:spPr>
      </p:pic>
      <p:sp>
        <p:nvSpPr>
          <p:cNvPr id="20" name="Text 11"/>
          <p:cNvSpPr/>
          <p:nvPr/>
        </p:nvSpPr>
        <p:spPr>
          <a:xfrm>
            <a:off x="877824" y="3227832"/>
            <a:ext cx="3657600" cy="329184"/>
          </a:xfrm>
          <a:prstGeom prst="rect">
            <a:avLst/>
          </a:prstGeom>
          <a:noFill/>
          <a:ln/>
        </p:spPr>
        <p:txBody>
          <a:bodyPr wrap="square" lIns="0" tIns="0" rIns="0" bIns="0" rtlCol="0" anchor="ctr"/>
          <a:lstStyle/>
          <a:p>
            <a:pPr marL="0" indent="0">
              <a:buNone/>
            </a:pPr>
            <a:r>
              <a:rPr lang="en-US" sz="1200" dirty="0">
                <a:solidFill>
                  <a:srgbClr val="2E4A32"/>
                </a:solidFill>
                <a:latin typeface="Calibri" pitchFamily="34" charset="0"/>
                <a:ea typeface="Calibri" pitchFamily="34" charset="-122"/>
                <a:cs typeface="Calibri" pitchFamily="34" charset="-120"/>
              </a:rPr>
              <a:t>Real-time grocery delivery tracking</a:t>
            </a:r>
            <a:endParaRPr lang="en-US" sz="1200" dirty="0"/>
          </a:p>
        </p:txBody>
      </p:sp>
      <p:sp>
        <p:nvSpPr>
          <p:cNvPr id="21" name="Shape 12"/>
          <p:cNvSpPr/>
          <p:nvPr/>
        </p:nvSpPr>
        <p:spPr>
          <a:xfrm>
            <a:off x="365760" y="3803904"/>
            <a:ext cx="109728" cy="109728"/>
          </a:xfrm>
          <a:prstGeom prst="ellipse">
            <a:avLst/>
          </a:prstGeom>
          <a:solidFill>
            <a:srgbClr val="3B82F6"/>
          </a:solidFill>
          <a:ln w="12700">
            <a:solidFill>
              <a:srgbClr val="3B82F6"/>
            </a:solidFill>
            <a:prstDash val="solid"/>
          </a:ln>
        </p:spPr>
        <p:txBody>
          <a:bodyPr/>
          <a:lstStyle/>
          <a:p>
            <a:endParaRPr lang="en-US"/>
          </a:p>
        </p:txBody>
      </p:sp>
      <p:pic>
        <p:nvPicPr>
          <p:cNvPr id="22" name="Image 7" descr="preencoded.png"/>
          <p:cNvPicPr>
            <a:picLocks noChangeAspect="1"/>
          </p:cNvPicPr>
          <p:nvPr/>
        </p:nvPicPr>
        <p:blipFill>
          <a:blip r:embed="rId10"/>
          <a:stretch>
            <a:fillRect/>
          </a:stretch>
        </p:blipFill>
        <p:spPr>
          <a:xfrm>
            <a:off x="566928" y="3730752"/>
            <a:ext cx="219456" cy="219456"/>
          </a:xfrm>
          <a:prstGeom prst="rect">
            <a:avLst/>
          </a:prstGeom>
        </p:spPr>
      </p:pic>
      <p:sp>
        <p:nvSpPr>
          <p:cNvPr id="23" name="Text 13"/>
          <p:cNvSpPr/>
          <p:nvPr/>
        </p:nvSpPr>
        <p:spPr>
          <a:xfrm>
            <a:off x="877824" y="3694176"/>
            <a:ext cx="3657600" cy="329184"/>
          </a:xfrm>
          <a:prstGeom prst="rect">
            <a:avLst/>
          </a:prstGeom>
          <a:noFill/>
          <a:ln/>
        </p:spPr>
        <p:txBody>
          <a:bodyPr wrap="square" lIns="0" tIns="0" rIns="0" bIns="0" rtlCol="0" anchor="ctr"/>
          <a:lstStyle/>
          <a:p>
            <a:pPr marL="0" indent="0">
              <a:buNone/>
            </a:pPr>
            <a:r>
              <a:rPr lang="en-US" sz="1200" dirty="0">
                <a:solidFill>
                  <a:srgbClr val="2E4A32"/>
                </a:solidFill>
                <a:latin typeface="Calibri" pitchFamily="34" charset="0"/>
                <a:ea typeface="Calibri" pitchFamily="34" charset="-122"/>
                <a:cs typeface="Calibri" pitchFamily="34" charset="-120"/>
              </a:rPr>
              <a:t>Mobile app + Terminal (TUI/CLI)</a:t>
            </a:r>
            <a:endParaRPr lang="en-US" sz="1200" dirty="0"/>
          </a:p>
        </p:txBody>
      </p:sp>
      <p:sp>
        <p:nvSpPr>
          <p:cNvPr id="24" name="Shape 14"/>
          <p:cNvSpPr/>
          <p:nvPr/>
        </p:nvSpPr>
        <p:spPr>
          <a:xfrm>
            <a:off x="365760" y="4270248"/>
            <a:ext cx="109728" cy="109728"/>
          </a:xfrm>
          <a:prstGeom prst="ellipse">
            <a:avLst/>
          </a:prstGeom>
          <a:solidFill>
            <a:srgbClr val="F59E0B"/>
          </a:solidFill>
          <a:ln w="12700">
            <a:solidFill>
              <a:srgbClr val="F59E0B"/>
            </a:solidFill>
            <a:prstDash val="solid"/>
          </a:ln>
        </p:spPr>
        <p:txBody>
          <a:bodyPr/>
          <a:lstStyle/>
          <a:p>
            <a:endParaRPr lang="en-US"/>
          </a:p>
        </p:txBody>
      </p:sp>
      <p:pic>
        <p:nvPicPr>
          <p:cNvPr id="25" name="Image 8" descr="preencoded.png"/>
          <p:cNvPicPr>
            <a:picLocks noChangeAspect="1"/>
          </p:cNvPicPr>
          <p:nvPr/>
        </p:nvPicPr>
        <p:blipFill>
          <a:blip r:embed="rId11"/>
          <a:stretch>
            <a:fillRect/>
          </a:stretch>
        </p:blipFill>
        <p:spPr>
          <a:xfrm>
            <a:off x="566928" y="4197096"/>
            <a:ext cx="219456" cy="219456"/>
          </a:xfrm>
          <a:prstGeom prst="rect">
            <a:avLst/>
          </a:prstGeom>
        </p:spPr>
      </p:pic>
      <p:sp>
        <p:nvSpPr>
          <p:cNvPr id="26" name="Text 15"/>
          <p:cNvSpPr/>
          <p:nvPr/>
        </p:nvSpPr>
        <p:spPr>
          <a:xfrm>
            <a:off x="877824" y="4160520"/>
            <a:ext cx="3657600" cy="329184"/>
          </a:xfrm>
          <a:prstGeom prst="rect">
            <a:avLst/>
          </a:prstGeom>
          <a:noFill/>
          <a:ln/>
        </p:spPr>
        <p:txBody>
          <a:bodyPr wrap="square" lIns="0" tIns="0" rIns="0" bIns="0" rtlCol="0" anchor="ctr"/>
          <a:lstStyle/>
          <a:p>
            <a:pPr marL="0" indent="0">
              <a:buNone/>
            </a:pPr>
            <a:r>
              <a:rPr lang="en-US" sz="1200" dirty="0">
                <a:solidFill>
                  <a:srgbClr val="2E4A32"/>
                </a:solidFill>
                <a:latin typeface="Calibri" pitchFamily="34" charset="0"/>
                <a:ea typeface="Calibri" pitchFamily="34" charset="-122"/>
                <a:cs typeface="Calibri" pitchFamily="34" charset="-120"/>
              </a:rPr>
              <a:t>Weekly reports &amp; meal favorites</a:t>
            </a:r>
            <a:endParaRPr lang="en-US" sz="1200" dirty="0"/>
          </a:p>
        </p:txBody>
      </p:sp>
      <p:sp>
        <p:nvSpPr>
          <p:cNvPr id="27" name="Shape 16"/>
          <p:cNvSpPr/>
          <p:nvPr/>
        </p:nvSpPr>
        <p:spPr>
          <a:xfrm>
            <a:off x="4983480" y="1353312"/>
            <a:ext cx="1920240" cy="1234440"/>
          </a:xfrm>
          <a:prstGeom prst="roundRect">
            <a:avLst>
              <a:gd name="adj" fmla="val 11852"/>
            </a:avLst>
          </a:prstGeom>
          <a:solidFill>
            <a:srgbClr val="FFFFFF"/>
          </a:solidFill>
          <a:ln w="19050">
            <a:solidFill>
              <a:srgbClr val="27AE60"/>
            </a:solidFill>
            <a:prstDash val="solid"/>
          </a:ln>
          <a:effectLst>
            <a:outerShdw blurRad="127000" dist="38100" dir="8100000" algn="bl" rotWithShape="0">
              <a:srgbClr val="2E4A32">
                <a:alpha val="10000"/>
              </a:srgbClr>
            </a:outerShdw>
          </a:effectLst>
        </p:spPr>
        <p:txBody>
          <a:bodyPr/>
          <a:lstStyle/>
          <a:p>
            <a:endParaRPr lang="en-US"/>
          </a:p>
        </p:txBody>
      </p:sp>
      <p:pic>
        <p:nvPicPr>
          <p:cNvPr id="28" name="Image 9" descr="preencoded.png"/>
          <p:cNvPicPr>
            <a:picLocks noChangeAspect="1"/>
          </p:cNvPicPr>
          <p:nvPr/>
        </p:nvPicPr>
        <p:blipFill>
          <a:blip r:embed="rId12"/>
          <a:stretch>
            <a:fillRect/>
          </a:stretch>
        </p:blipFill>
        <p:spPr>
          <a:xfrm>
            <a:off x="4983480" y="1353312"/>
            <a:ext cx="1920240" cy="54864"/>
          </a:xfrm>
          <a:prstGeom prst="rect">
            <a:avLst/>
          </a:prstGeom>
        </p:spPr>
      </p:pic>
      <p:pic>
        <p:nvPicPr>
          <p:cNvPr id="29" name="Image 10" descr="preencoded.png"/>
          <p:cNvPicPr>
            <a:picLocks noChangeAspect="1"/>
          </p:cNvPicPr>
          <p:nvPr/>
        </p:nvPicPr>
        <p:blipFill>
          <a:blip r:embed="rId13"/>
          <a:stretch>
            <a:fillRect/>
          </a:stretch>
        </p:blipFill>
        <p:spPr>
          <a:xfrm>
            <a:off x="5120640" y="1499616"/>
            <a:ext cx="329184" cy="329184"/>
          </a:xfrm>
          <a:prstGeom prst="rect">
            <a:avLst/>
          </a:prstGeom>
        </p:spPr>
      </p:pic>
      <p:sp>
        <p:nvSpPr>
          <p:cNvPr id="30" name="Text 17"/>
          <p:cNvSpPr/>
          <p:nvPr/>
        </p:nvSpPr>
        <p:spPr>
          <a:xfrm>
            <a:off x="5056632" y="1883664"/>
            <a:ext cx="1792224" cy="420624"/>
          </a:xfrm>
          <a:prstGeom prst="rect">
            <a:avLst/>
          </a:prstGeom>
          <a:noFill/>
          <a:ln/>
        </p:spPr>
        <p:txBody>
          <a:bodyPr wrap="square" lIns="0" tIns="0" rIns="0" bIns="0" rtlCol="0" anchor="ctr"/>
          <a:lstStyle/>
          <a:p>
            <a:pPr marL="0" indent="0" algn="ctr">
              <a:buNone/>
            </a:pPr>
            <a:r>
              <a:rPr lang="en-US" sz="2800" b="1" dirty="0">
                <a:solidFill>
                  <a:srgbClr val="1B2D1E"/>
                </a:solidFill>
                <a:latin typeface="Georgia" pitchFamily="34" charset="0"/>
                <a:ea typeface="Georgia" pitchFamily="34" charset="-122"/>
                <a:cs typeface="Georgia" pitchFamily="34" charset="-120"/>
              </a:rPr>
              <a:t>20</a:t>
            </a:r>
            <a:endParaRPr lang="en-US" sz="2800" dirty="0"/>
          </a:p>
        </p:txBody>
      </p:sp>
      <p:sp>
        <p:nvSpPr>
          <p:cNvPr id="31" name="Text 18"/>
          <p:cNvSpPr/>
          <p:nvPr/>
        </p:nvSpPr>
        <p:spPr>
          <a:xfrm>
            <a:off x="5056632" y="2322576"/>
            <a:ext cx="1792224" cy="201168"/>
          </a:xfrm>
          <a:prstGeom prst="rect">
            <a:avLst/>
          </a:prstGeom>
          <a:noFill/>
          <a:ln/>
        </p:spPr>
        <p:txBody>
          <a:bodyPr wrap="square" lIns="0" tIns="0" rIns="0" bIns="0" rtlCol="0" anchor="ctr"/>
          <a:lstStyle/>
          <a:p>
            <a:pPr marL="0" indent="0" algn="ctr">
              <a:buNone/>
            </a:pPr>
            <a:r>
              <a:rPr lang="en-US" sz="950" dirty="0">
                <a:solidFill>
                  <a:srgbClr val="6B8F6E"/>
                </a:solidFill>
                <a:latin typeface="Calibri" pitchFamily="34" charset="0"/>
                <a:ea typeface="Calibri" pitchFamily="34" charset="-122"/>
                <a:cs typeface="Calibri" pitchFamily="34" charset="-120"/>
              </a:rPr>
              <a:t>Use Cases</a:t>
            </a:r>
            <a:endParaRPr lang="en-US" sz="950" dirty="0"/>
          </a:p>
        </p:txBody>
      </p:sp>
      <p:sp>
        <p:nvSpPr>
          <p:cNvPr id="32" name="Shape 19"/>
          <p:cNvSpPr/>
          <p:nvPr/>
        </p:nvSpPr>
        <p:spPr>
          <a:xfrm>
            <a:off x="7068312" y="1353312"/>
            <a:ext cx="1920240" cy="1234440"/>
          </a:xfrm>
          <a:prstGeom prst="roundRect">
            <a:avLst>
              <a:gd name="adj" fmla="val 11852"/>
            </a:avLst>
          </a:prstGeom>
          <a:solidFill>
            <a:srgbClr val="FFFFFF"/>
          </a:solidFill>
          <a:ln w="19050">
            <a:solidFill>
              <a:srgbClr val="14B8A6"/>
            </a:solidFill>
            <a:prstDash val="solid"/>
          </a:ln>
          <a:effectLst>
            <a:outerShdw blurRad="127000" dist="38100" dir="8100000" algn="bl" rotWithShape="0">
              <a:srgbClr val="2E4A32">
                <a:alpha val="10000"/>
              </a:srgbClr>
            </a:outerShdw>
          </a:effectLst>
        </p:spPr>
        <p:txBody>
          <a:bodyPr/>
          <a:lstStyle/>
          <a:p>
            <a:endParaRPr lang="en-US"/>
          </a:p>
        </p:txBody>
      </p:sp>
      <p:pic>
        <p:nvPicPr>
          <p:cNvPr id="33" name="Image 11" descr="preencoded.png"/>
          <p:cNvPicPr>
            <a:picLocks noChangeAspect="1"/>
          </p:cNvPicPr>
          <p:nvPr/>
        </p:nvPicPr>
        <p:blipFill>
          <a:blip r:embed="rId14"/>
          <a:stretch>
            <a:fillRect/>
          </a:stretch>
        </p:blipFill>
        <p:spPr>
          <a:xfrm>
            <a:off x="7068312" y="1353312"/>
            <a:ext cx="1920240" cy="54864"/>
          </a:xfrm>
          <a:prstGeom prst="rect">
            <a:avLst/>
          </a:prstGeom>
        </p:spPr>
      </p:pic>
      <p:pic>
        <p:nvPicPr>
          <p:cNvPr id="34" name="Image 12" descr="preencoded.png"/>
          <p:cNvPicPr>
            <a:picLocks noChangeAspect="1"/>
          </p:cNvPicPr>
          <p:nvPr/>
        </p:nvPicPr>
        <p:blipFill>
          <a:blip r:embed="rId15"/>
          <a:stretch>
            <a:fillRect/>
          </a:stretch>
        </p:blipFill>
        <p:spPr>
          <a:xfrm>
            <a:off x="7205472" y="1499616"/>
            <a:ext cx="329184" cy="329184"/>
          </a:xfrm>
          <a:prstGeom prst="rect">
            <a:avLst/>
          </a:prstGeom>
        </p:spPr>
      </p:pic>
      <p:sp>
        <p:nvSpPr>
          <p:cNvPr id="35" name="Text 20"/>
          <p:cNvSpPr/>
          <p:nvPr/>
        </p:nvSpPr>
        <p:spPr>
          <a:xfrm>
            <a:off x="7141464" y="1883664"/>
            <a:ext cx="1792224" cy="420624"/>
          </a:xfrm>
          <a:prstGeom prst="rect">
            <a:avLst/>
          </a:prstGeom>
          <a:noFill/>
          <a:ln/>
        </p:spPr>
        <p:txBody>
          <a:bodyPr wrap="square" lIns="0" tIns="0" rIns="0" bIns="0" rtlCol="0" anchor="ctr"/>
          <a:lstStyle/>
          <a:p>
            <a:pPr marL="0" indent="0" algn="ctr">
              <a:buNone/>
            </a:pPr>
            <a:r>
              <a:rPr lang="en-US" sz="2800" b="1" dirty="0">
                <a:solidFill>
                  <a:srgbClr val="1B2D1E"/>
                </a:solidFill>
                <a:latin typeface="Georgia" pitchFamily="34" charset="0"/>
                <a:ea typeface="Georgia" pitchFamily="34" charset="-122"/>
                <a:cs typeface="Georgia" pitchFamily="34" charset="-120"/>
              </a:rPr>
              <a:t>3</a:t>
            </a:r>
            <a:endParaRPr lang="en-US" sz="2800" dirty="0"/>
          </a:p>
        </p:txBody>
      </p:sp>
      <p:sp>
        <p:nvSpPr>
          <p:cNvPr id="36" name="Text 21"/>
          <p:cNvSpPr/>
          <p:nvPr/>
        </p:nvSpPr>
        <p:spPr>
          <a:xfrm>
            <a:off x="7141464" y="2322576"/>
            <a:ext cx="1792224" cy="201168"/>
          </a:xfrm>
          <a:prstGeom prst="rect">
            <a:avLst/>
          </a:prstGeom>
          <a:noFill/>
          <a:ln/>
        </p:spPr>
        <p:txBody>
          <a:bodyPr wrap="square" lIns="0" tIns="0" rIns="0" bIns="0" rtlCol="0" anchor="ctr"/>
          <a:lstStyle/>
          <a:p>
            <a:pPr marL="0" indent="0" algn="ctr">
              <a:buNone/>
            </a:pPr>
            <a:r>
              <a:rPr lang="en-US" sz="950" dirty="0">
                <a:solidFill>
                  <a:srgbClr val="6B8F6E"/>
                </a:solidFill>
                <a:latin typeface="Calibri" pitchFamily="34" charset="0"/>
                <a:ea typeface="Calibri" pitchFamily="34" charset="-122"/>
                <a:cs typeface="Calibri" pitchFamily="34" charset="-120"/>
              </a:rPr>
              <a:t>User Roles</a:t>
            </a:r>
            <a:endParaRPr lang="en-US" sz="950" dirty="0"/>
          </a:p>
        </p:txBody>
      </p:sp>
      <p:sp>
        <p:nvSpPr>
          <p:cNvPr id="37" name="Shape 22"/>
          <p:cNvSpPr/>
          <p:nvPr/>
        </p:nvSpPr>
        <p:spPr>
          <a:xfrm>
            <a:off x="4983480" y="2770632"/>
            <a:ext cx="1920240" cy="1234440"/>
          </a:xfrm>
          <a:prstGeom prst="roundRect">
            <a:avLst>
              <a:gd name="adj" fmla="val 11852"/>
            </a:avLst>
          </a:prstGeom>
          <a:solidFill>
            <a:srgbClr val="FFFFFF"/>
          </a:solidFill>
          <a:ln w="19050">
            <a:solidFill>
              <a:srgbClr val="F97316"/>
            </a:solidFill>
            <a:prstDash val="solid"/>
          </a:ln>
          <a:effectLst>
            <a:outerShdw blurRad="127000" dist="38100" dir="8100000" algn="bl" rotWithShape="0">
              <a:srgbClr val="2E4A32">
                <a:alpha val="10000"/>
              </a:srgbClr>
            </a:outerShdw>
          </a:effectLst>
        </p:spPr>
        <p:txBody>
          <a:bodyPr/>
          <a:lstStyle/>
          <a:p>
            <a:endParaRPr lang="en-US"/>
          </a:p>
        </p:txBody>
      </p:sp>
      <p:pic>
        <p:nvPicPr>
          <p:cNvPr id="38" name="Image 13" descr="preencoded.png"/>
          <p:cNvPicPr>
            <a:picLocks noChangeAspect="1"/>
          </p:cNvPicPr>
          <p:nvPr/>
        </p:nvPicPr>
        <p:blipFill>
          <a:blip r:embed="rId16"/>
          <a:stretch>
            <a:fillRect/>
          </a:stretch>
        </p:blipFill>
        <p:spPr>
          <a:xfrm>
            <a:off x="4983480" y="2770632"/>
            <a:ext cx="1920240" cy="54864"/>
          </a:xfrm>
          <a:prstGeom prst="rect">
            <a:avLst/>
          </a:prstGeom>
        </p:spPr>
      </p:pic>
      <p:pic>
        <p:nvPicPr>
          <p:cNvPr id="39" name="Image 14" descr="preencoded.png"/>
          <p:cNvPicPr>
            <a:picLocks noChangeAspect="1"/>
          </p:cNvPicPr>
          <p:nvPr/>
        </p:nvPicPr>
        <p:blipFill>
          <a:blip r:embed="rId17"/>
          <a:stretch>
            <a:fillRect/>
          </a:stretch>
        </p:blipFill>
        <p:spPr>
          <a:xfrm>
            <a:off x="5120640" y="2916936"/>
            <a:ext cx="329184" cy="329184"/>
          </a:xfrm>
          <a:prstGeom prst="rect">
            <a:avLst/>
          </a:prstGeom>
        </p:spPr>
      </p:pic>
      <p:sp>
        <p:nvSpPr>
          <p:cNvPr id="40" name="Text 23"/>
          <p:cNvSpPr/>
          <p:nvPr/>
        </p:nvSpPr>
        <p:spPr>
          <a:xfrm>
            <a:off x="5056632" y="3300984"/>
            <a:ext cx="1792224" cy="420624"/>
          </a:xfrm>
          <a:prstGeom prst="rect">
            <a:avLst/>
          </a:prstGeom>
          <a:noFill/>
          <a:ln/>
        </p:spPr>
        <p:txBody>
          <a:bodyPr wrap="square" lIns="0" tIns="0" rIns="0" bIns="0" rtlCol="0" anchor="ctr"/>
          <a:lstStyle/>
          <a:p>
            <a:pPr marL="0" indent="0" algn="ctr">
              <a:buNone/>
            </a:pPr>
            <a:r>
              <a:rPr lang="en-US" sz="2800" b="1" dirty="0">
                <a:solidFill>
                  <a:srgbClr val="1B2D1E"/>
                </a:solidFill>
                <a:latin typeface="Georgia" pitchFamily="34" charset="0"/>
                <a:ea typeface="Georgia" pitchFamily="34" charset="-122"/>
                <a:cs typeface="Georgia" pitchFamily="34" charset="-120"/>
              </a:rPr>
              <a:t>2</a:t>
            </a:r>
            <a:endParaRPr lang="en-US" sz="2800" dirty="0"/>
          </a:p>
        </p:txBody>
      </p:sp>
      <p:sp>
        <p:nvSpPr>
          <p:cNvPr id="41" name="Text 24"/>
          <p:cNvSpPr/>
          <p:nvPr/>
        </p:nvSpPr>
        <p:spPr>
          <a:xfrm>
            <a:off x="5056632" y="3739896"/>
            <a:ext cx="1792224" cy="201168"/>
          </a:xfrm>
          <a:prstGeom prst="rect">
            <a:avLst/>
          </a:prstGeom>
          <a:noFill/>
          <a:ln/>
        </p:spPr>
        <p:txBody>
          <a:bodyPr wrap="square" lIns="0" tIns="0" rIns="0" bIns="0" rtlCol="0" anchor="ctr"/>
          <a:lstStyle/>
          <a:p>
            <a:pPr marL="0" indent="0" algn="ctr">
              <a:buNone/>
            </a:pPr>
            <a:r>
              <a:rPr lang="en-US" sz="950" dirty="0">
                <a:solidFill>
                  <a:srgbClr val="6B8F6E"/>
                </a:solidFill>
                <a:latin typeface="Calibri" pitchFamily="34" charset="0"/>
                <a:ea typeface="Calibri" pitchFamily="34" charset="-122"/>
                <a:cs typeface="Calibri" pitchFamily="34" charset="-120"/>
              </a:rPr>
              <a:t>Grocery APIs</a:t>
            </a:r>
            <a:endParaRPr lang="en-US" sz="950" dirty="0"/>
          </a:p>
        </p:txBody>
      </p:sp>
      <p:sp>
        <p:nvSpPr>
          <p:cNvPr id="42" name="Shape 25"/>
          <p:cNvSpPr/>
          <p:nvPr/>
        </p:nvSpPr>
        <p:spPr>
          <a:xfrm>
            <a:off x="7068312" y="2770632"/>
            <a:ext cx="1920240" cy="1234440"/>
          </a:xfrm>
          <a:prstGeom prst="roundRect">
            <a:avLst>
              <a:gd name="adj" fmla="val 11852"/>
            </a:avLst>
          </a:prstGeom>
          <a:solidFill>
            <a:srgbClr val="FFFFFF"/>
          </a:solidFill>
          <a:ln w="19050">
            <a:solidFill>
              <a:srgbClr val="8B5CF6"/>
            </a:solidFill>
            <a:prstDash val="solid"/>
          </a:ln>
          <a:effectLst>
            <a:outerShdw blurRad="127000" dist="38100" dir="8100000" algn="bl" rotWithShape="0">
              <a:srgbClr val="2E4A32">
                <a:alpha val="10000"/>
              </a:srgbClr>
            </a:outerShdw>
          </a:effectLst>
        </p:spPr>
        <p:txBody>
          <a:bodyPr/>
          <a:lstStyle/>
          <a:p>
            <a:endParaRPr lang="en-US"/>
          </a:p>
        </p:txBody>
      </p:sp>
      <p:pic>
        <p:nvPicPr>
          <p:cNvPr id="43" name="Image 15" descr="preencoded.png"/>
          <p:cNvPicPr>
            <a:picLocks noChangeAspect="1"/>
          </p:cNvPicPr>
          <p:nvPr/>
        </p:nvPicPr>
        <p:blipFill>
          <a:blip r:embed="rId18"/>
          <a:stretch>
            <a:fillRect/>
          </a:stretch>
        </p:blipFill>
        <p:spPr>
          <a:xfrm>
            <a:off x="7068312" y="2770632"/>
            <a:ext cx="1920240" cy="54864"/>
          </a:xfrm>
          <a:prstGeom prst="rect">
            <a:avLst/>
          </a:prstGeom>
        </p:spPr>
      </p:pic>
      <p:pic>
        <p:nvPicPr>
          <p:cNvPr id="44" name="Image 16" descr="preencoded.png"/>
          <p:cNvPicPr>
            <a:picLocks noChangeAspect="1"/>
          </p:cNvPicPr>
          <p:nvPr/>
        </p:nvPicPr>
        <p:blipFill>
          <a:blip r:embed="rId19"/>
          <a:stretch>
            <a:fillRect/>
          </a:stretch>
        </p:blipFill>
        <p:spPr>
          <a:xfrm>
            <a:off x="7205472" y="2916936"/>
            <a:ext cx="329184" cy="329184"/>
          </a:xfrm>
          <a:prstGeom prst="rect">
            <a:avLst/>
          </a:prstGeom>
        </p:spPr>
      </p:pic>
      <p:sp>
        <p:nvSpPr>
          <p:cNvPr id="45" name="Text 26"/>
          <p:cNvSpPr/>
          <p:nvPr/>
        </p:nvSpPr>
        <p:spPr>
          <a:xfrm>
            <a:off x="7141464" y="3300984"/>
            <a:ext cx="1792224" cy="420624"/>
          </a:xfrm>
          <a:prstGeom prst="rect">
            <a:avLst/>
          </a:prstGeom>
          <a:noFill/>
          <a:ln/>
        </p:spPr>
        <p:txBody>
          <a:bodyPr wrap="square" lIns="0" tIns="0" rIns="0" bIns="0" rtlCol="0" anchor="ctr"/>
          <a:lstStyle/>
          <a:p>
            <a:pPr marL="0" indent="0" algn="ctr">
              <a:buNone/>
            </a:pPr>
            <a:r>
              <a:rPr lang="en-US" sz="2800" b="1" dirty="0">
                <a:solidFill>
                  <a:srgbClr val="1B2D1E"/>
                </a:solidFill>
                <a:latin typeface="Georgia" pitchFamily="34" charset="0"/>
                <a:ea typeface="Georgia" pitchFamily="34" charset="-122"/>
                <a:cs typeface="Georgia" pitchFamily="34" charset="-120"/>
              </a:rPr>
              <a:t>2</a:t>
            </a:r>
            <a:endParaRPr lang="en-US" sz="2800" dirty="0"/>
          </a:p>
        </p:txBody>
      </p:sp>
      <p:sp>
        <p:nvSpPr>
          <p:cNvPr id="46" name="Text 27"/>
          <p:cNvSpPr/>
          <p:nvPr/>
        </p:nvSpPr>
        <p:spPr>
          <a:xfrm>
            <a:off x="7141464" y="3739896"/>
            <a:ext cx="1792224" cy="201168"/>
          </a:xfrm>
          <a:prstGeom prst="rect">
            <a:avLst/>
          </a:prstGeom>
          <a:noFill/>
          <a:ln/>
        </p:spPr>
        <p:txBody>
          <a:bodyPr wrap="square" lIns="0" tIns="0" rIns="0" bIns="0" rtlCol="0" anchor="ctr"/>
          <a:lstStyle/>
          <a:p>
            <a:pPr marL="0" indent="0" algn="ctr">
              <a:buNone/>
            </a:pPr>
            <a:r>
              <a:rPr lang="en-US" sz="950" dirty="0">
                <a:solidFill>
                  <a:srgbClr val="6B8F6E"/>
                </a:solidFill>
                <a:latin typeface="Calibri" pitchFamily="34" charset="0"/>
                <a:ea typeface="Calibri" pitchFamily="34" charset="-122"/>
                <a:cs typeface="Calibri" pitchFamily="34" charset="-120"/>
              </a:rPr>
              <a:t>Interfaces</a:t>
            </a:r>
            <a:endParaRPr lang="en-US" sz="950" dirty="0"/>
          </a:p>
        </p:txBody>
      </p:sp>
      <p:sp>
        <p:nvSpPr>
          <p:cNvPr id="47" name="Shape 28"/>
          <p:cNvSpPr/>
          <p:nvPr/>
        </p:nvSpPr>
        <p:spPr>
          <a:xfrm>
            <a:off x="0" y="4498848"/>
            <a:ext cx="9144000" cy="644652"/>
          </a:xfrm>
          <a:prstGeom prst="rect">
            <a:avLst/>
          </a:prstGeom>
          <a:solidFill>
            <a:srgbClr val="1B2D1E"/>
          </a:solidFill>
          <a:ln w="12700">
            <a:solidFill>
              <a:srgbClr val="1B2D1E"/>
            </a:solidFill>
            <a:prstDash val="solid"/>
          </a:ln>
        </p:spPr>
        <p:txBody>
          <a:bodyPr/>
          <a:lstStyle/>
          <a:p>
            <a:endParaRPr lang="en-US"/>
          </a:p>
        </p:txBody>
      </p:sp>
      <p:pic>
        <p:nvPicPr>
          <p:cNvPr id="48" name="Image 17" descr="preencoded.png"/>
          <p:cNvPicPr>
            <a:picLocks noChangeAspect="1"/>
          </p:cNvPicPr>
          <p:nvPr/>
        </p:nvPicPr>
        <p:blipFill>
          <a:blip r:embed="rId20"/>
          <a:stretch>
            <a:fillRect/>
          </a:stretch>
        </p:blipFill>
        <p:spPr>
          <a:xfrm>
            <a:off x="0" y="4498848"/>
            <a:ext cx="9144000" cy="36576"/>
          </a:xfrm>
          <a:prstGeom prst="rect">
            <a:avLst/>
          </a:prstGeom>
        </p:spPr>
      </p:pic>
      <p:sp>
        <p:nvSpPr>
          <p:cNvPr id="49" name="Shape 29"/>
          <p:cNvSpPr/>
          <p:nvPr/>
        </p:nvSpPr>
        <p:spPr>
          <a:xfrm>
            <a:off x="256032" y="4645152"/>
            <a:ext cx="1298448" cy="256032"/>
          </a:xfrm>
          <a:prstGeom prst="roundRect">
            <a:avLst>
              <a:gd name="adj" fmla="val 50000"/>
            </a:avLst>
          </a:prstGeom>
          <a:solidFill>
            <a:srgbClr val="2E4A32"/>
          </a:solidFill>
          <a:ln w="10160">
            <a:solidFill>
              <a:srgbClr val="3B82F6"/>
            </a:solidFill>
            <a:prstDash val="solid"/>
          </a:ln>
        </p:spPr>
        <p:txBody>
          <a:bodyPr/>
          <a:lstStyle/>
          <a:p>
            <a:endParaRPr lang="en-US"/>
          </a:p>
        </p:txBody>
      </p:sp>
      <p:sp>
        <p:nvSpPr>
          <p:cNvPr id="50" name="Text 30"/>
          <p:cNvSpPr/>
          <p:nvPr/>
        </p:nvSpPr>
        <p:spPr>
          <a:xfrm>
            <a:off x="256032" y="4649724"/>
            <a:ext cx="1298448" cy="246888"/>
          </a:xfrm>
          <a:prstGeom prst="rect">
            <a:avLst/>
          </a:prstGeom>
          <a:noFill/>
          <a:ln/>
        </p:spPr>
        <p:txBody>
          <a:bodyPr wrap="square" lIns="0" tIns="0" rIns="0" bIns="0" rtlCol="0" anchor="ctr"/>
          <a:lstStyle/>
          <a:p>
            <a:pPr marL="0" indent="0" algn="ctr">
              <a:buNone/>
            </a:pPr>
            <a:r>
              <a:rPr lang="en-US" sz="800" b="1" dirty="0">
                <a:solidFill>
                  <a:srgbClr val="3B82F6"/>
                </a:solidFill>
                <a:latin typeface="Calibri" pitchFamily="34" charset="0"/>
                <a:ea typeface="Calibri" pitchFamily="34" charset="-122"/>
                <a:cs typeface="Calibri" pitchFamily="34" charset="-120"/>
              </a:rPr>
              <a:t>React</a:t>
            </a:r>
            <a:endParaRPr lang="en-US" sz="800" dirty="0"/>
          </a:p>
        </p:txBody>
      </p:sp>
      <p:sp>
        <p:nvSpPr>
          <p:cNvPr id="51" name="Shape 31"/>
          <p:cNvSpPr/>
          <p:nvPr/>
        </p:nvSpPr>
        <p:spPr>
          <a:xfrm>
            <a:off x="1719072" y="4645152"/>
            <a:ext cx="1298448" cy="256032"/>
          </a:xfrm>
          <a:prstGeom prst="roundRect">
            <a:avLst>
              <a:gd name="adj" fmla="val 50000"/>
            </a:avLst>
          </a:prstGeom>
          <a:solidFill>
            <a:srgbClr val="2E4A32"/>
          </a:solidFill>
          <a:ln w="10160">
            <a:solidFill>
              <a:srgbClr val="3CB371"/>
            </a:solidFill>
            <a:prstDash val="solid"/>
          </a:ln>
        </p:spPr>
        <p:txBody>
          <a:bodyPr/>
          <a:lstStyle/>
          <a:p>
            <a:endParaRPr lang="en-US"/>
          </a:p>
        </p:txBody>
      </p:sp>
      <p:sp>
        <p:nvSpPr>
          <p:cNvPr id="52" name="Text 32"/>
          <p:cNvSpPr/>
          <p:nvPr/>
        </p:nvSpPr>
        <p:spPr>
          <a:xfrm>
            <a:off x="1719072" y="4649724"/>
            <a:ext cx="1298448" cy="246888"/>
          </a:xfrm>
          <a:prstGeom prst="rect">
            <a:avLst/>
          </a:prstGeom>
          <a:noFill/>
          <a:ln/>
        </p:spPr>
        <p:txBody>
          <a:bodyPr wrap="square" lIns="0" tIns="0" rIns="0" bIns="0" rtlCol="0" anchor="ctr"/>
          <a:lstStyle/>
          <a:p>
            <a:pPr marL="0" indent="0" algn="ctr">
              <a:buNone/>
            </a:pPr>
            <a:r>
              <a:rPr lang="en-US" sz="800" b="1" dirty="0">
                <a:solidFill>
                  <a:srgbClr val="3CB371"/>
                </a:solidFill>
                <a:latin typeface="Calibri" pitchFamily="34" charset="0"/>
                <a:ea typeface="Calibri" pitchFamily="34" charset="-122"/>
                <a:cs typeface="Calibri" pitchFamily="34" charset="-120"/>
              </a:rPr>
              <a:t>Node.js / Express</a:t>
            </a:r>
            <a:endParaRPr lang="en-US" sz="800" dirty="0"/>
          </a:p>
        </p:txBody>
      </p:sp>
      <p:sp>
        <p:nvSpPr>
          <p:cNvPr id="53" name="Shape 33"/>
          <p:cNvSpPr/>
          <p:nvPr/>
        </p:nvSpPr>
        <p:spPr>
          <a:xfrm>
            <a:off x="3182112" y="4645152"/>
            <a:ext cx="1298448" cy="256032"/>
          </a:xfrm>
          <a:prstGeom prst="roundRect">
            <a:avLst>
              <a:gd name="adj" fmla="val 50000"/>
            </a:avLst>
          </a:prstGeom>
          <a:solidFill>
            <a:srgbClr val="2E4A32"/>
          </a:solidFill>
          <a:ln w="10160">
            <a:solidFill>
              <a:srgbClr val="8BC34A"/>
            </a:solidFill>
            <a:prstDash val="solid"/>
          </a:ln>
        </p:spPr>
        <p:txBody>
          <a:bodyPr/>
          <a:lstStyle/>
          <a:p>
            <a:endParaRPr lang="en-US"/>
          </a:p>
        </p:txBody>
      </p:sp>
      <p:sp>
        <p:nvSpPr>
          <p:cNvPr id="54" name="Text 34"/>
          <p:cNvSpPr/>
          <p:nvPr/>
        </p:nvSpPr>
        <p:spPr>
          <a:xfrm>
            <a:off x="3182112" y="4649724"/>
            <a:ext cx="1298448" cy="246888"/>
          </a:xfrm>
          <a:prstGeom prst="rect">
            <a:avLst/>
          </a:prstGeom>
          <a:noFill/>
          <a:ln/>
        </p:spPr>
        <p:txBody>
          <a:bodyPr wrap="square" lIns="0" tIns="0" rIns="0" bIns="0" rtlCol="0" anchor="ctr"/>
          <a:lstStyle/>
          <a:p>
            <a:pPr marL="0" indent="0" algn="ctr">
              <a:buNone/>
            </a:pPr>
            <a:r>
              <a:rPr lang="en-US" sz="800" b="1" dirty="0">
                <a:solidFill>
                  <a:srgbClr val="8BC34A"/>
                </a:solidFill>
                <a:latin typeface="Calibri" pitchFamily="34" charset="0"/>
                <a:ea typeface="Calibri" pitchFamily="34" charset="-122"/>
                <a:cs typeface="Calibri" pitchFamily="34" charset="-120"/>
              </a:rPr>
              <a:t>MySQL + USDA DB</a:t>
            </a:r>
            <a:endParaRPr lang="en-US" sz="800" dirty="0"/>
          </a:p>
        </p:txBody>
      </p:sp>
      <p:sp>
        <p:nvSpPr>
          <p:cNvPr id="55" name="Shape 35"/>
          <p:cNvSpPr/>
          <p:nvPr/>
        </p:nvSpPr>
        <p:spPr>
          <a:xfrm>
            <a:off x="4645152" y="4645152"/>
            <a:ext cx="1298448" cy="256032"/>
          </a:xfrm>
          <a:prstGeom prst="roundRect">
            <a:avLst>
              <a:gd name="adj" fmla="val 50000"/>
            </a:avLst>
          </a:prstGeom>
          <a:solidFill>
            <a:srgbClr val="2E4A32"/>
          </a:solidFill>
          <a:ln w="10160">
            <a:solidFill>
              <a:srgbClr val="F97316"/>
            </a:solidFill>
            <a:prstDash val="solid"/>
          </a:ln>
        </p:spPr>
        <p:txBody>
          <a:bodyPr/>
          <a:lstStyle/>
          <a:p>
            <a:endParaRPr lang="en-US"/>
          </a:p>
        </p:txBody>
      </p:sp>
      <p:sp>
        <p:nvSpPr>
          <p:cNvPr id="56" name="Text 36"/>
          <p:cNvSpPr/>
          <p:nvPr/>
        </p:nvSpPr>
        <p:spPr>
          <a:xfrm>
            <a:off x="4645152" y="4649724"/>
            <a:ext cx="1298448" cy="246888"/>
          </a:xfrm>
          <a:prstGeom prst="rect">
            <a:avLst/>
          </a:prstGeom>
          <a:noFill/>
          <a:ln/>
        </p:spPr>
        <p:txBody>
          <a:bodyPr wrap="square" lIns="0" tIns="0" rIns="0" bIns="0" rtlCol="0" anchor="ctr"/>
          <a:lstStyle/>
          <a:p>
            <a:pPr marL="0" indent="0" algn="ctr">
              <a:buNone/>
            </a:pPr>
            <a:r>
              <a:rPr lang="en-US" sz="800" b="1" dirty="0">
                <a:solidFill>
                  <a:srgbClr val="F97316"/>
                </a:solidFill>
                <a:latin typeface="Calibri" pitchFamily="34" charset="0"/>
                <a:ea typeface="Calibri" pitchFamily="34" charset="-122"/>
                <a:cs typeface="Calibri" pitchFamily="34" charset="-120"/>
              </a:rPr>
              <a:t>JWT / OAuth 2.0</a:t>
            </a:r>
            <a:endParaRPr lang="en-US" sz="800" dirty="0"/>
          </a:p>
        </p:txBody>
      </p:sp>
      <p:sp>
        <p:nvSpPr>
          <p:cNvPr id="57" name="Shape 37"/>
          <p:cNvSpPr/>
          <p:nvPr/>
        </p:nvSpPr>
        <p:spPr>
          <a:xfrm>
            <a:off x="6108192" y="4645152"/>
            <a:ext cx="1298448" cy="256032"/>
          </a:xfrm>
          <a:prstGeom prst="roundRect">
            <a:avLst>
              <a:gd name="adj" fmla="val 50000"/>
            </a:avLst>
          </a:prstGeom>
          <a:solidFill>
            <a:srgbClr val="2E4A32"/>
          </a:solidFill>
          <a:ln w="10160">
            <a:solidFill>
              <a:srgbClr val="8B5CF6"/>
            </a:solidFill>
            <a:prstDash val="solid"/>
          </a:ln>
        </p:spPr>
        <p:txBody>
          <a:bodyPr/>
          <a:lstStyle/>
          <a:p>
            <a:endParaRPr lang="en-US"/>
          </a:p>
        </p:txBody>
      </p:sp>
      <p:sp>
        <p:nvSpPr>
          <p:cNvPr id="58" name="Text 38"/>
          <p:cNvSpPr/>
          <p:nvPr/>
        </p:nvSpPr>
        <p:spPr>
          <a:xfrm>
            <a:off x="6108192" y="4649724"/>
            <a:ext cx="1298448" cy="246888"/>
          </a:xfrm>
          <a:prstGeom prst="rect">
            <a:avLst/>
          </a:prstGeom>
          <a:noFill/>
          <a:ln/>
        </p:spPr>
        <p:txBody>
          <a:bodyPr wrap="square" lIns="0" tIns="0" rIns="0" bIns="0" rtlCol="0" anchor="ctr"/>
          <a:lstStyle/>
          <a:p>
            <a:pPr marL="0" indent="0" algn="ctr">
              <a:buNone/>
            </a:pPr>
            <a:r>
              <a:rPr lang="en-US" sz="800" b="1" dirty="0">
                <a:solidFill>
                  <a:srgbClr val="8B5CF6"/>
                </a:solidFill>
                <a:latin typeface="Calibri" pitchFamily="34" charset="0"/>
                <a:ea typeface="Calibri" pitchFamily="34" charset="-122"/>
                <a:cs typeface="Calibri" pitchFamily="34" charset="-120"/>
              </a:rPr>
              <a:t>AES-256</a:t>
            </a:r>
            <a:endParaRPr lang="en-US" sz="800" dirty="0"/>
          </a:p>
        </p:txBody>
      </p:sp>
      <p:sp>
        <p:nvSpPr>
          <p:cNvPr id="59" name="Shape 39"/>
          <p:cNvSpPr/>
          <p:nvPr/>
        </p:nvSpPr>
        <p:spPr>
          <a:xfrm>
            <a:off x="7571232" y="4645152"/>
            <a:ext cx="1298448" cy="256032"/>
          </a:xfrm>
          <a:prstGeom prst="roundRect">
            <a:avLst>
              <a:gd name="adj" fmla="val 50000"/>
            </a:avLst>
          </a:prstGeom>
          <a:solidFill>
            <a:srgbClr val="2E4A32"/>
          </a:solidFill>
          <a:ln w="10160">
            <a:solidFill>
              <a:srgbClr val="14B8A6"/>
            </a:solidFill>
            <a:prstDash val="solid"/>
          </a:ln>
        </p:spPr>
        <p:txBody>
          <a:bodyPr/>
          <a:lstStyle/>
          <a:p>
            <a:endParaRPr lang="en-US"/>
          </a:p>
        </p:txBody>
      </p:sp>
      <p:sp>
        <p:nvSpPr>
          <p:cNvPr id="60" name="Text 40"/>
          <p:cNvSpPr/>
          <p:nvPr/>
        </p:nvSpPr>
        <p:spPr>
          <a:xfrm>
            <a:off x="7571232" y="4649724"/>
            <a:ext cx="1298448" cy="246888"/>
          </a:xfrm>
          <a:prstGeom prst="rect">
            <a:avLst/>
          </a:prstGeom>
          <a:noFill/>
          <a:ln/>
        </p:spPr>
        <p:txBody>
          <a:bodyPr wrap="square" lIns="0" tIns="0" rIns="0" bIns="0" rtlCol="0" anchor="ctr"/>
          <a:lstStyle/>
          <a:p>
            <a:pPr marL="0" indent="0" algn="ctr">
              <a:buNone/>
            </a:pPr>
            <a:r>
              <a:rPr lang="en-US" sz="800" b="1" dirty="0">
                <a:solidFill>
                  <a:srgbClr val="14B8A6"/>
                </a:solidFill>
                <a:latin typeface="Calibri" pitchFamily="34" charset="0"/>
                <a:ea typeface="Calibri" pitchFamily="34" charset="-122"/>
                <a:cs typeface="Calibri" pitchFamily="34" charset="-120"/>
              </a:rPr>
              <a:t>FCM / APNs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40080"/>
          </a:xfrm>
          <a:prstGeom prst="rect">
            <a:avLst/>
          </a:prstGeom>
        </p:spPr>
      </p:pic>
      <p:sp>
        <p:nvSpPr>
          <p:cNvPr id="3" name="Shape 0"/>
          <p:cNvSpPr/>
          <p:nvPr/>
        </p:nvSpPr>
        <p:spPr>
          <a:xfrm>
            <a:off x="365760" y="137160"/>
            <a:ext cx="1325880" cy="219456"/>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4" name="Text 1"/>
          <p:cNvSpPr/>
          <p:nvPr/>
        </p:nvSpPr>
        <p:spPr>
          <a:xfrm>
            <a:off x="365760" y="141732"/>
            <a:ext cx="1325880" cy="210312"/>
          </a:xfrm>
          <a:prstGeom prst="rect">
            <a:avLst/>
          </a:prstGeom>
          <a:noFill/>
          <a:ln/>
        </p:spPr>
        <p:txBody>
          <a:bodyPr wrap="square" lIns="0" tIns="0" rIns="0" bIns="0" rtlCol="0" anchor="ctr"/>
          <a:lstStyle/>
          <a:p>
            <a:pPr marL="0" indent="0" algn="ctr">
              <a:buNone/>
            </a:pPr>
            <a:r>
              <a:rPr lang="en-US" sz="750" b="1" kern="0" spc="100" dirty="0">
                <a:solidFill>
                  <a:srgbClr val="27AE60"/>
                </a:solidFill>
                <a:latin typeface="Calibri" pitchFamily="34" charset="0"/>
                <a:ea typeface="Calibri" pitchFamily="34" charset="-122"/>
                <a:cs typeface="Calibri" pitchFamily="34" charset="-120"/>
              </a:rPr>
              <a:t>02  FEATURES</a:t>
            </a:r>
            <a:endParaRPr lang="en-US" sz="750" dirty="0"/>
          </a:p>
        </p:txBody>
      </p:sp>
      <p:sp>
        <p:nvSpPr>
          <p:cNvPr id="5" name="Text 2"/>
          <p:cNvSpPr/>
          <p:nvPr/>
        </p:nvSpPr>
        <p:spPr>
          <a:xfrm>
            <a:off x="365760" y="749808"/>
            <a:ext cx="8412480" cy="566928"/>
          </a:xfrm>
          <a:prstGeom prst="rect">
            <a:avLst/>
          </a:prstGeom>
          <a:noFill/>
          <a:ln/>
        </p:spPr>
        <p:txBody>
          <a:bodyPr wrap="square" lIns="0" tIns="0" rIns="0" bIns="0" rtlCol="0" anchor="ctr"/>
          <a:lstStyle/>
          <a:p>
            <a:pPr marL="0" indent="0">
              <a:buNone/>
            </a:pPr>
            <a:r>
              <a:rPr lang="en-US" sz="3400" b="1" dirty="0">
                <a:solidFill>
                  <a:srgbClr val="1B2D1E"/>
                </a:solidFill>
                <a:latin typeface="Georgia" pitchFamily="34" charset="0"/>
                <a:ea typeface="Georgia" pitchFamily="34" charset="-122"/>
                <a:cs typeface="Georgia" pitchFamily="34" charset="-120"/>
              </a:rPr>
              <a:t>Most Appealing Features</a:t>
            </a:r>
            <a:endParaRPr lang="en-US" sz="3400" dirty="0"/>
          </a:p>
        </p:txBody>
      </p:sp>
      <p:sp>
        <p:nvSpPr>
          <p:cNvPr id="6" name="Shape 3"/>
          <p:cNvSpPr/>
          <p:nvPr/>
        </p:nvSpPr>
        <p:spPr>
          <a:xfrm>
            <a:off x="256032" y="1444752"/>
            <a:ext cx="2834640" cy="1691640"/>
          </a:xfrm>
          <a:prstGeom prst="roundRect">
            <a:avLst>
              <a:gd name="adj" fmla="val 9730"/>
            </a:avLst>
          </a:prstGeom>
          <a:solidFill>
            <a:srgbClr val="FFFFFF"/>
          </a:solidFill>
          <a:ln w="15240">
            <a:solidFill>
              <a:srgbClr val="27AE60"/>
            </a:solidFill>
            <a:prstDash val="solid"/>
          </a:ln>
          <a:effectLst>
            <a:outerShdw blurRad="127000" dist="38100" dir="8100000" algn="bl" rotWithShape="0">
              <a:srgbClr val="2E4A32">
                <a:alpha val="10000"/>
              </a:srgbClr>
            </a:outerShdw>
          </a:effectLst>
        </p:spPr>
        <p:txBody>
          <a:bodyPr/>
          <a:lstStyle/>
          <a:p>
            <a:endParaRPr lang="en-US"/>
          </a:p>
        </p:txBody>
      </p:sp>
      <p:sp>
        <p:nvSpPr>
          <p:cNvPr id="7" name="Shape 4"/>
          <p:cNvSpPr/>
          <p:nvPr/>
        </p:nvSpPr>
        <p:spPr>
          <a:xfrm>
            <a:off x="438912" y="1627632"/>
            <a:ext cx="512064" cy="512064"/>
          </a:xfrm>
          <a:prstGeom prst="ellipse">
            <a:avLst/>
          </a:prstGeom>
          <a:solidFill>
            <a:srgbClr val="E8F5E9"/>
          </a:solidFill>
          <a:ln w="12700">
            <a:solidFill>
              <a:srgbClr val="27AE60"/>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502920" y="1691640"/>
            <a:ext cx="384048" cy="384048"/>
          </a:xfrm>
          <a:prstGeom prst="rect">
            <a:avLst/>
          </a:prstGeom>
        </p:spPr>
      </p:pic>
      <p:sp>
        <p:nvSpPr>
          <p:cNvPr id="9" name="Text 5"/>
          <p:cNvSpPr/>
          <p:nvPr/>
        </p:nvSpPr>
        <p:spPr>
          <a:xfrm>
            <a:off x="1060704" y="1664208"/>
            <a:ext cx="1920240" cy="329184"/>
          </a:xfrm>
          <a:prstGeom prst="rect">
            <a:avLst/>
          </a:prstGeom>
          <a:noFill/>
          <a:ln/>
        </p:spPr>
        <p:txBody>
          <a:bodyPr wrap="square" lIns="0" tIns="0" rIns="0" bIns="0" rtlCol="0" anchor="ctr"/>
          <a:lstStyle/>
          <a:p>
            <a:pPr marL="0" indent="0">
              <a:buNone/>
            </a:pPr>
            <a:r>
              <a:rPr lang="en-US" sz="1200" b="1" dirty="0">
                <a:solidFill>
                  <a:srgbClr val="1B2D1E"/>
                </a:solidFill>
                <a:latin typeface="Calibri" pitchFamily="34" charset="0"/>
                <a:ea typeface="Calibri" pitchFamily="34" charset="-122"/>
                <a:cs typeface="Calibri" pitchFamily="34" charset="-120"/>
              </a:rPr>
              <a:t>Personalized Nutrition</a:t>
            </a:r>
            <a:endParaRPr lang="en-US" sz="1200" dirty="0"/>
          </a:p>
        </p:txBody>
      </p:sp>
      <p:sp>
        <p:nvSpPr>
          <p:cNvPr id="10" name="Shape 6"/>
          <p:cNvSpPr/>
          <p:nvPr/>
        </p:nvSpPr>
        <p:spPr>
          <a:xfrm>
            <a:off x="438912" y="2231136"/>
            <a:ext cx="2468880" cy="0"/>
          </a:xfrm>
          <a:prstGeom prst="line">
            <a:avLst/>
          </a:prstGeom>
          <a:noFill/>
          <a:ln w="10160">
            <a:solidFill>
              <a:srgbClr val="27AE60"/>
            </a:solidFill>
            <a:prstDash val="solid"/>
          </a:ln>
        </p:spPr>
        <p:txBody>
          <a:bodyPr/>
          <a:lstStyle/>
          <a:p>
            <a:endParaRPr lang="en-US"/>
          </a:p>
        </p:txBody>
      </p:sp>
      <p:sp>
        <p:nvSpPr>
          <p:cNvPr id="11" name="Text 7"/>
          <p:cNvSpPr/>
          <p:nvPr/>
        </p:nvSpPr>
        <p:spPr>
          <a:xfrm>
            <a:off x="438912" y="2340864"/>
            <a:ext cx="2487168" cy="71323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Meal plans from age, weight, activity, allergies &amp; diet type using USDA macronutrient formulas (UC-01, UC-09)</a:t>
            </a:r>
            <a:endParaRPr lang="en-US" sz="950" dirty="0"/>
          </a:p>
        </p:txBody>
      </p:sp>
      <p:sp>
        <p:nvSpPr>
          <p:cNvPr id="12" name="Shape 8"/>
          <p:cNvSpPr/>
          <p:nvPr/>
        </p:nvSpPr>
        <p:spPr>
          <a:xfrm>
            <a:off x="3236976" y="1444752"/>
            <a:ext cx="2834640" cy="1691640"/>
          </a:xfrm>
          <a:prstGeom prst="roundRect">
            <a:avLst>
              <a:gd name="adj" fmla="val 9730"/>
            </a:avLst>
          </a:prstGeom>
          <a:solidFill>
            <a:srgbClr val="FFFFFF"/>
          </a:solidFill>
          <a:ln w="15240">
            <a:solidFill>
              <a:srgbClr val="8B5CF6"/>
            </a:solidFill>
            <a:prstDash val="solid"/>
          </a:ln>
          <a:effectLst>
            <a:outerShdw blurRad="127000" dist="38100" dir="8100000" algn="bl" rotWithShape="0">
              <a:srgbClr val="2E4A32">
                <a:alpha val="10000"/>
              </a:srgbClr>
            </a:outerShdw>
          </a:effectLst>
        </p:spPr>
        <p:txBody>
          <a:bodyPr/>
          <a:lstStyle/>
          <a:p>
            <a:endParaRPr lang="en-US"/>
          </a:p>
        </p:txBody>
      </p:sp>
      <p:sp>
        <p:nvSpPr>
          <p:cNvPr id="13" name="Shape 9"/>
          <p:cNvSpPr/>
          <p:nvPr/>
        </p:nvSpPr>
        <p:spPr>
          <a:xfrm>
            <a:off x="3419856" y="1627632"/>
            <a:ext cx="512064" cy="512064"/>
          </a:xfrm>
          <a:prstGeom prst="ellipse">
            <a:avLst/>
          </a:prstGeom>
          <a:solidFill>
            <a:srgbClr val="F3E5F5"/>
          </a:solidFill>
          <a:ln w="12700">
            <a:solidFill>
              <a:srgbClr val="8B5CF6"/>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483864" y="1691640"/>
            <a:ext cx="384048" cy="384048"/>
          </a:xfrm>
          <a:prstGeom prst="rect">
            <a:avLst/>
          </a:prstGeom>
        </p:spPr>
      </p:pic>
      <p:sp>
        <p:nvSpPr>
          <p:cNvPr id="15" name="Text 10"/>
          <p:cNvSpPr/>
          <p:nvPr/>
        </p:nvSpPr>
        <p:spPr>
          <a:xfrm>
            <a:off x="4041648" y="1664208"/>
            <a:ext cx="1920240" cy="329184"/>
          </a:xfrm>
          <a:prstGeom prst="rect">
            <a:avLst/>
          </a:prstGeom>
          <a:noFill/>
          <a:ln/>
        </p:spPr>
        <p:txBody>
          <a:bodyPr wrap="square" lIns="0" tIns="0" rIns="0" bIns="0" rtlCol="0" anchor="ctr"/>
          <a:lstStyle/>
          <a:p>
            <a:pPr marL="0" indent="0">
              <a:buNone/>
            </a:pPr>
            <a:r>
              <a:rPr lang="en-US" sz="1200" b="1" dirty="0">
                <a:solidFill>
                  <a:srgbClr val="1B2D1E"/>
                </a:solidFill>
                <a:latin typeface="Calibri" pitchFamily="34" charset="0"/>
                <a:ea typeface="Calibri" pitchFamily="34" charset="-122"/>
                <a:cs typeface="Calibri" pitchFamily="34" charset="-120"/>
              </a:rPr>
              <a:t>AI Research Assistant</a:t>
            </a:r>
            <a:endParaRPr lang="en-US" sz="1200" dirty="0"/>
          </a:p>
        </p:txBody>
      </p:sp>
      <p:sp>
        <p:nvSpPr>
          <p:cNvPr id="16" name="Shape 11"/>
          <p:cNvSpPr/>
          <p:nvPr/>
        </p:nvSpPr>
        <p:spPr>
          <a:xfrm>
            <a:off x="3419856" y="2231136"/>
            <a:ext cx="2468880" cy="0"/>
          </a:xfrm>
          <a:prstGeom prst="line">
            <a:avLst/>
          </a:prstGeom>
          <a:noFill/>
          <a:ln w="10160">
            <a:solidFill>
              <a:srgbClr val="8B5CF6"/>
            </a:solidFill>
            <a:prstDash val="solid"/>
          </a:ln>
        </p:spPr>
        <p:txBody>
          <a:bodyPr/>
          <a:lstStyle/>
          <a:p>
            <a:endParaRPr lang="en-US"/>
          </a:p>
        </p:txBody>
      </p:sp>
      <p:sp>
        <p:nvSpPr>
          <p:cNvPr id="17" name="Text 12"/>
          <p:cNvSpPr/>
          <p:nvPr/>
        </p:nvSpPr>
        <p:spPr>
          <a:xfrm>
            <a:off x="3419856" y="2340864"/>
            <a:ext cx="2487168" cy="71323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In-app chatbot with PubMed/Scholar citations, conversation context &amp; medical-advice disclaimers (UC-07, UC-08)</a:t>
            </a:r>
            <a:endParaRPr lang="en-US" sz="950" dirty="0"/>
          </a:p>
        </p:txBody>
      </p:sp>
      <p:sp>
        <p:nvSpPr>
          <p:cNvPr id="18" name="Shape 13"/>
          <p:cNvSpPr/>
          <p:nvPr/>
        </p:nvSpPr>
        <p:spPr>
          <a:xfrm>
            <a:off x="6217920" y="1444752"/>
            <a:ext cx="2834640" cy="1691640"/>
          </a:xfrm>
          <a:prstGeom prst="roundRect">
            <a:avLst>
              <a:gd name="adj" fmla="val 9730"/>
            </a:avLst>
          </a:prstGeom>
          <a:solidFill>
            <a:srgbClr val="FFFFFF"/>
          </a:solidFill>
          <a:ln w="15240">
            <a:solidFill>
              <a:srgbClr val="F97316"/>
            </a:solidFill>
            <a:prstDash val="solid"/>
          </a:ln>
          <a:effectLst>
            <a:outerShdw blurRad="127000" dist="38100" dir="8100000" algn="bl" rotWithShape="0">
              <a:srgbClr val="2E4A32">
                <a:alpha val="10000"/>
              </a:srgbClr>
            </a:outerShdw>
          </a:effectLst>
        </p:spPr>
        <p:txBody>
          <a:bodyPr/>
          <a:lstStyle/>
          <a:p>
            <a:endParaRPr lang="en-US"/>
          </a:p>
        </p:txBody>
      </p:sp>
      <p:sp>
        <p:nvSpPr>
          <p:cNvPr id="19" name="Shape 14"/>
          <p:cNvSpPr/>
          <p:nvPr/>
        </p:nvSpPr>
        <p:spPr>
          <a:xfrm>
            <a:off x="6400800" y="1627632"/>
            <a:ext cx="512064" cy="512064"/>
          </a:xfrm>
          <a:prstGeom prst="ellipse">
            <a:avLst/>
          </a:prstGeom>
          <a:solidFill>
            <a:srgbClr val="FFF3E0"/>
          </a:solidFill>
          <a:ln w="12700">
            <a:solidFill>
              <a:srgbClr val="F9731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464808" y="1691640"/>
            <a:ext cx="384048" cy="384048"/>
          </a:xfrm>
          <a:prstGeom prst="rect">
            <a:avLst/>
          </a:prstGeom>
        </p:spPr>
      </p:pic>
      <p:sp>
        <p:nvSpPr>
          <p:cNvPr id="21" name="Text 15"/>
          <p:cNvSpPr/>
          <p:nvPr/>
        </p:nvSpPr>
        <p:spPr>
          <a:xfrm>
            <a:off x="7022592" y="1664208"/>
            <a:ext cx="1920240" cy="329184"/>
          </a:xfrm>
          <a:prstGeom prst="rect">
            <a:avLst/>
          </a:prstGeom>
          <a:noFill/>
          <a:ln/>
        </p:spPr>
        <p:txBody>
          <a:bodyPr wrap="square" lIns="0" tIns="0" rIns="0" bIns="0" rtlCol="0" anchor="ctr"/>
          <a:lstStyle/>
          <a:p>
            <a:pPr marL="0" indent="0">
              <a:buNone/>
            </a:pPr>
            <a:r>
              <a:rPr lang="en-US" sz="1200" b="1" dirty="0">
                <a:solidFill>
                  <a:srgbClr val="1B2D1E"/>
                </a:solidFill>
                <a:latin typeface="Calibri" pitchFamily="34" charset="0"/>
                <a:ea typeface="Calibri" pitchFamily="34" charset="-122"/>
                <a:cs typeface="Calibri" pitchFamily="34" charset="-120"/>
              </a:rPr>
              <a:t>Smart Grocery Ordering</a:t>
            </a:r>
            <a:endParaRPr lang="en-US" sz="1200" dirty="0"/>
          </a:p>
        </p:txBody>
      </p:sp>
      <p:sp>
        <p:nvSpPr>
          <p:cNvPr id="22" name="Shape 16"/>
          <p:cNvSpPr/>
          <p:nvPr/>
        </p:nvSpPr>
        <p:spPr>
          <a:xfrm>
            <a:off x="6400800" y="2231136"/>
            <a:ext cx="2468880" cy="0"/>
          </a:xfrm>
          <a:prstGeom prst="line">
            <a:avLst/>
          </a:prstGeom>
          <a:noFill/>
          <a:ln w="10160">
            <a:solidFill>
              <a:srgbClr val="F97316"/>
            </a:solidFill>
            <a:prstDash val="solid"/>
          </a:ln>
        </p:spPr>
        <p:txBody>
          <a:bodyPr/>
          <a:lstStyle/>
          <a:p>
            <a:endParaRPr lang="en-US"/>
          </a:p>
        </p:txBody>
      </p:sp>
      <p:sp>
        <p:nvSpPr>
          <p:cNvPr id="23" name="Text 17"/>
          <p:cNvSpPr/>
          <p:nvPr/>
        </p:nvSpPr>
        <p:spPr>
          <a:xfrm>
            <a:off x="6400800" y="2340864"/>
            <a:ext cx="2487168" cy="71323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Ingredient ordering via DoorDash/Kroger APIs with budget optimizer — cheaper swaps, same nutrition (UC-02, UC-10)</a:t>
            </a:r>
            <a:endParaRPr lang="en-US" sz="950" dirty="0"/>
          </a:p>
        </p:txBody>
      </p:sp>
      <p:sp>
        <p:nvSpPr>
          <p:cNvPr id="24" name="Shape 18"/>
          <p:cNvSpPr/>
          <p:nvPr/>
        </p:nvSpPr>
        <p:spPr>
          <a:xfrm>
            <a:off x="256032" y="3236976"/>
            <a:ext cx="2834640" cy="1691640"/>
          </a:xfrm>
          <a:prstGeom prst="roundRect">
            <a:avLst>
              <a:gd name="adj" fmla="val 9730"/>
            </a:avLst>
          </a:prstGeom>
          <a:solidFill>
            <a:srgbClr val="FFFFFF"/>
          </a:solidFill>
          <a:ln w="15240">
            <a:solidFill>
              <a:srgbClr val="14B8A6"/>
            </a:solidFill>
            <a:prstDash val="solid"/>
          </a:ln>
          <a:effectLst>
            <a:outerShdw blurRad="127000" dist="38100" dir="8100000" algn="bl" rotWithShape="0">
              <a:srgbClr val="2E4A32">
                <a:alpha val="10000"/>
              </a:srgbClr>
            </a:outerShdw>
          </a:effectLst>
        </p:spPr>
        <p:txBody>
          <a:bodyPr/>
          <a:lstStyle/>
          <a:p>
            <a:endParaRPr lang="en-US"/>
          </a:p>
        </p:txBody>
      </p:sp>
      <p:sp>
        <p:nvSpPr>
          <p:cNvPr id="25" name="Shape 19"/>
          <p:cNvSpPr/>
          <p:nvPr/>
        </p:nvSpPr>
        <p:spPr>
          <a:xfrm>
            <a:off x="438912" y="3419856"/>
            <a:ext cx="512064" cy="512064"/>
          </a:xfrm>
          <a:prstGeom prst="ellipse">
            <a:avLst/>
          </a:prstGeom>
          <a:solidFill>
            <a:srgbClr val="E0F7FA"/>
          </a:solidFill>
          <a:ln w="12700">
            <a:solidFill>
              <a:srgbClr val="14B8A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02920" y="3483864"/>
            <a:ext cx="384048" cy="384048"/>
          </a:xfrm>
          <a:prstGeom prst="rect">
            <a:avLst/>
          </a:prstGeom>
        </p:spPr>
      </p:pic>
      <p:sp>
        <p:nvSpPr>
          <p:cNvPr id="27" name="Text 20"/>
          <p:cNvSpPr/>
          <p:nvPr/>
        </p:nvSpPr>
        <p:spPr>
          <a:xfrm>
            <a:off x="1060704" y="3456432"/>
            <a:ext cx="1920240" cy="329184"/>
          </a:xfrm>
          <a:prstGeom prst="rect">
            <a:avLst/>
          </a:prstGeom>
          <a:noFill/>
          <a:ln/>
        </p:spPr>
        <p:txBody>
          <a:bodyPr wrap="square" lIns="0" tIns="0" rIns="0" bIns="0" rtlCol="0" anchor="ctr"/>
          <a:lstStyle/>
          <a:p>
            <a:pPr marL="0" indent="0">
              <a:buNone/>
            </a:pPr>
            <a:r>
              <a:rPr lang="en-US" sz="1200" b="1" dirty="0">
                <a:solidFill>
                  <a:srgbClr val="1B2D1E"/>
                </a:solidFill>
                <a:latin typeface="Calibri" pitchFamily="34" charset="0"/>
                <a:ea typeface="Calibri" pitchFamily="34" charset="-122"/>
                <a:cs typeface="Calibri" pitchFamily="34" charset="-120"/>
              </a:rPr>
              <a:t>Live Delivery Tracking</a:t>
            </a:r>
            <a:endParaRPr lang="en-US" sz="1200" dirty="0"/>
          </a:p>
        </p:txBody>
      </p:sp>
      <p:sp>
        <p:nvSpPr>
          <p:cNvPr id="28" name="Shape 21"/>
          <p:cNvSpPr/>
          <p:nvPr/>
        </p:nvSpPr>
        <p:spPr>
          <a:xfrm>
            <a:off x="438912" y="4023360"/>
            <a:ext cx="2468880" cy="0"/>
          </a:xfrm>
          <a:prstGeom prst="line">
            <a:avLst/>
          </a:prstGeom>
          <a:noFill/>
          <a:ln w="10160">
            <a:solidFill>
              <a:srgbClr val="14B8A6"/>
            </a:solidFill>
            <a:prstDash val="solid"/>
          </a:ln>
        </p:spPr>
        <p:txBody>
          <a:bodyPr/>
          <a:lstStyle/>
          <a:p>
            <a:endParaRPr lang="en-US"/>
          </a:p>
        </p:txBody>
      </p:sp>
      <p:sp>
        <p:nvSpPr>
          <p:cNvPr id="29" name="Text 22"/>
          <p:cNvSpPr/>
          <p:nvPr/>
        </p:nvSpPr>
        <p:spPr>
          <a:xfrm>
            <a:off x="438912" y="4133088"/>
            <a:ext cx="2487168" cy="71323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Real-time status: confirmed → preparing → in transit → delivered, via API polling or webhooks (UC-15)</a:t>
            </a:r>
            <a:endParaRPr lang="en-US" sz="950" dirty="0"/>
          </a:p>
        </p:txBody>
      </p:sp>
      <p:sp>
        <p:nvSpPr>
          <p:cNvPr id="30" name="Shape 23"/>
          <p:cNvSpPr/>
          <p:nvPr/>
        </p:nvSpPr>
        <p:spPr>
          <a:xfrm>
            <a:off x="3236976" y="3236976"/>
            <a:ext cx="2834640" cy="1691640"/>
          </a:xfrm>
          <a:prstGeom prst="roundRect">
            <a:avLst>
              <a:gd name="adj" fmla="val 9730"/>
            </a:avLst>
          </a:prstGeom>
          <a:solidFill>
            <a:srgbClr val="FFFFFF"/>
          </a:solidFill>
          <a:ln w="15240">
            <a:solidFill>
              <a:srgbClr val="3B82F6"/>
            </a:solidFill>
            <a:prstDash val="solid"/>
          </a:ln>
          <a:effectLst>
            <a:outerShdw blurRad="127000" dist="38100" dir="8100000" algn="bl" rotWithShape="0">
              <a:srgbClr val="2E4A32">
                <a:alpha val="10000"/>
              </a:srgbClr>
            </a:outerShdw>
          </a:effectLst>
        </p:spPr>
        <p:txBody>
          <a:bodyPr/>
          <a:lstStyle/>
          <a:p>
            <a:endParaRPr lang="en-US"/>
          </a:p>
        </p:txBody>
      </p:sp>
      <p:sp>
        <p:nvSpPr>
          <p:cNvPr id="31" name="Shape 24"/>
          <p:cNvSpPr/>
          <p:nvPr/>
        </p:nvSpPr>
        <p:spPr>
          <a:xfrm>
            <a:off x="3419856" y="3419856"/>
            <a:ext cx="512064" cy="512064"/>
          </a:xfrm>
          <a:prstGeom prst="ellipse">
            <a:avLst/>
          </a:prstGeom>
          <a:solidFill>
            <a:srgbClr val="E3F2FD"/>
          </a:solidFill>
          <a:ln w="12700">
            <a:solidFill>
              <a:srgbClr val="3B82F6"/>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3483864" y="3483864"/>
            <a:ext cx="384048" cy="384048"/>
          </a:xfrm>
          <a:prstGeom prst="rect">
            <a:avLst/>
          </a:prstGeom>
        </p:spPr>
      </p:pic>
      <p:sp>
        <p:nvSpPr>
          <p:cNvPr id="33" name="Text 25"/>
          <p:cNvSpPr/>
          <p:nvPr/>
        </p:nvSpPr>
        <p:spPr>
          <a:xfrm>
            <a:off x="4041648" y="3456432"/>
            <a:ext cx="1920240" cy="329184"/>
          </a:xfrm>
          <a:prstGeom prst="rect">
            <a:avLst/>
          </a:prstGeom>
          <a:noFill/>
          <a:ln/>
        </p:spPr>
        <p:txBody>
          <a:bodyPr wrap="square" lIns="0" tIns="0" rIns="0" bIns="0" rtlCol="0" anchor="ctr"/>
          <a:lstStyle/>
          <a:p>
            <a:pPr marL="0" indent="0">
              <a:buNone/>
            </a:pPr>
            <a:r>
              <a:rPr lang="en-US" sz="1200" b="1" dirty="0">
                <a:solidFill>
                  <a:srgbClr val="1B2D1E"/>
                </a:solidFill>
                <a:latin typeface="Calibri" pitchFamily="34" charset="0"/>
                <a:ea typeface="Calibri" pitchFamily="34" charset="-122"/>
                <a:cs typeface="Calibri" pitchFamily="34" charset="-120"/>
              </a:rPr>
              <a:t>Mobile + TUI Interface</a:t>
            </a:r>
            <a:endParaRPr lang="en-US" sz="1200" dirty="0"/>
          </a:p>
        </p:txBody>
      </p:sp>
      <p:sp>
        <p:nvSpPr>
          <p:cNvPr id="34" name="Shape 26"/>
          <p:cNvSpPr/>
          <p:nvPr/>
        </p:nvSpPr>
        <p:spPr>
          <a:xfrm>
            <a:off x="3419856" y="4023360"/>
            <a:ext cx="2468880" cy="0"/>
          </a:xfrm>
          <a:prstGeom prst="line">
            <a:avLst/>
          </a:prstGeom>
          <a:noFill/>
          <a:ln w="10160">
            <a:solidFill>
              <a:srgbClr val="3B82F6"/>
            </a:solidFill>
            <a:prstDash val="solid"/>
          </a:ln>
        </p:spPr>
        <p:txBody>
          <a:bodyPr/>
          <a:lstStyle/>
          <a:p>
            <a:endParaRPr lang="en-US"/>
          </a:p>
        </p:txBody>
      </p:sp>
      <p:sp>
        <p:nvSpPr>
          <p:cNvPr id="35" name="Text 27"/>
          <p:cNvSpPr/>
          <p:nvPr/>
        </p:nvSpPr>
        <p:spPr>
          <a:xfrm>
            <a:off x="3419856" y="4133088"/>
            <a:ext cx="2487168" cy="71323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Full-featured iOS/Android app and terminal UI sharing one backend API — changes sync instantly (UC-05, UC-06)</a:t>
            </a:r>
            <a:endParaRPr lang="en-US" sz="950" dirty="0"/>
          </a:p>
        </p:txBody>
      </p:sp>
      <p:sp>
        <p:nvSpPr>
          <p:cNvPr id="36" name="Shape 28"/>
          <p:cNvSpPr/>
          <p:nvPr/>
        </p:nvSpPr>
        <p:spPr>
          <a:xfrm>
            <a:off x="6217920" y="3236976"/>
            <a:ext cx="2834640" cy="1691640"/>
          </a:xfrm>
          <a:prstGeom prst="roundRect">
            <a:avLst>
              <a:gd name="adj" fmla="val 9730"/>
            </a:avLst>
          </a:prstGeom>
          <a:solidFill>
            <a:srgbClr val="FFFFFF"/>
          </a:solidFill>
          <a:ln w="15240">
            <a:solidFill>
              <a:srgbClr val="F59E0B"/>
            </a:solidFill>
            <a:prstDash val="solid"/>
          </a:ln>
          <a:effectLst>
            <a:outerShdw blurRad="127000" dist="38100" dir="8100000" algn="bl" rotWithShape="0">
              <a:srgbClr val="2E4A32">
                <a:alpha val="10000"/>
              </a:srgbClr>
            </a:outerShdw>
          </a:effectLst>
        </p:spPr>
        <p:txBody>
          <a:bodyPr/>
          <a:lstStyle/>
          <a:p>
            <a:endParaRPr lang="en-US"/>
          </a:p>
        </p:txBody>
      </p:sp>
      <p:sp>
        <p:nvSpPr>
          <p:cNvPr id="37" name="Shape 29"/>
          <p:cNvSpPr/>
          <p:nvPr/>
        </p:nvSpPr>
        <p:spPr>
          <a:xfrm>
            <a:off x="6400800" y="3419856"/>
            <a:ext cx="512064" cy="512064"/>
          </a:xfrm>
          <a:prstGeom prst="ellipse">
            <a:avLst/>
          </a:prstGeom>
          <a:solidFill>
            <a:srgbClr val="FFFDE7"/>
          </a:solidFill>
          <a:ln w="12700">
            <a:solidFill>
              <a:srgbClr val="F59E0B"/>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6464808" y="3483864"/>
            <a:ext cx="384048" cy="384048"/>
          </a:xfrm>
          <a:prstGeom prst="rect">
            <a:avLst/>
          </a:prstGeom>
        </p:spPr>
      </p:pic>
      <p:sp>
        <p:nvSpPr>
          <p:cNvPr id="39" name="Text 30"/>
          <p:cNvSpPr/>
          <p:nvPr/>
        </p:nvSpPr>
        <p:spPr>
          <a:xfrm>
            <a:off x="7022592" y="3456432"/>
            <a:ext cx="1920240" cy="329184"/>
          </a:xfrm>
          <a:prstGeom prst="rect">
            <a:avLst/>
          </a:prstGeom>
          <a:noFill/>
          <a:ln/>
        </p:spPr>
        <p:txBody>
          <a:bodyPr wrap="square" lIns="0" tIns="0" rIns="0" bIns="0" rtlCol="0" anchor="ctr"/>
          <a:lstStyle/>
          <a:p>
            <a:pPr marL="0" indent="0">
              <a:buNone/>
            </a:pPr>
            <a:r>
              <a:rPr lang="en-US" sz="1200" b="1" dirty="0">
                <a:solidFill>
                  <a:srgbClr val="1B2D1E"/>
                </a:solidFill>
                <a:latin typeface="Calibri" pitchFamily="34" charset="0"/>
                <a:ea typeface="Calibri" pitchFamily="34" charset="-122"/>
                <a:cs typeface="Calibri" pitchFamily="34" charset="-120"/>
              </a:rPr>
              <a:t>Reports &amp; Favorites</a:t>
            </a:r>
            <a:endParaRPr lang="en-US" sz="1200" dirty="0"/>
          </a:p>
        </p:txBody>
      </p:sp>
      <p:sp>
        <p:nvSpPr>
          <p:cNvPr id="40" name="Shape 31"/>
          <p:cNvSpPr/>
          <p:nvPr/>
        </p:nvSpPr>
        <p:spPr>
          <a:xfrm>
            <a:off x="6400800" y="4023360"/>
            <a:ext cx="2468880" cy="0"/>
          </a:xfrm>
          <a:prstGeom prst="line">
            <a:avLst/>
          </a:prstGeom>
          <a:noFill/>
          <a:ln w="10160">
            <a:solidFill>
              <a:srgbClr val="F59E0B"/>
            </a:solidFill>
            <a:prstDash val="solid"/>
          </a:ln>
        </p:spPr>
        <p:txBody>
          <a:bodyPr/>
          <a:lstStyle/>
          <a:p>
            <a:endParaRPr lang="en-US"/>
          </a:p>
        </p:txBody>
      </p:sp>
      <p:sp>
        <p:nvSpPr>
          <p:cNvPr id="41" name="Text 32"/>
          <p:cNvSpPr/>
          <p:nvPr/>
        </p:nvSpPr>
        <p:spPr>
          <a:xfrm>
            <a:off x="6400800" y="4133088"/>
            <a:ext cx="2487168" cy="71323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Weekly nutrition reports with macro trend charts, goal adherence &amp; favorite meals boosting future plans (UC-16–19)</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40080"/>
          </a:xfrm>
          <a:prstGeom prst="rect">
            <a:avLst/>
          </a:prstGeom>
        </p:spPr>
      </p:pic>
      <p:sp>
        <p:nvSpPr>
          <p:cNvPr id="3" name="Shape 0"/>
          <p:cNvSpPr/>
          <p:nvPr/>
        </p:nvSpPr>
        <p:spPr>
          <a:xfrm>
            <a:off x="365760" y="137160"/>
            <a:ext cx="1508760" cy="219456"/>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4" name="Text 1"/>
          <p:cNvSpPr/>
          <p:nvPr/>
        </p:nvSpPr>
        <p:spPr>
          <a:xfrm>
            <a:off x="365760" y="141732"/>
            <a:ext cx="1508760" cy="210312"/>
          </a:xfrm>
          <a:prstGeom prst="rect">
            <a:avLst/>
          </a:prstGeom>
          <a:noFill/>
          <a:ln/>
        </p:spPr>
        <p:txBody>
          <a:bodyPr wrap="square" lIns="0" tIns="0" rIns="0" bIns="0" rtlCol="0" anchor="ctr"/>
          <a:lstStyle/>
          <a:p>
            <a:pPr marL="0" indent="0" algn="ctr">
              <a:buNone/>
            </a:pPr>
            <a:r>
              <a:rPr lang="en-US" sz="750" b="1" kern="0" spc="100" dirty="0">
                <a:solidFill>
                  <a:srgbClr val="F97316"/>
                </a:solidFill>
                <a:latin typeface="Calibri" pitchFamily="34" charset="0"/>
                <a:ea typeface="Calibri" pitchFamily="34" charset="-122"/>
                <a:cs typeface="Calibri" pitchFamily="34" charset="-120"/>
              </a:rPr>
              <a:t>03  CHALLENGES</a:t>
            </a:r>
            <a:endParaRPr lang="en-US" sz="750" dirty="0"/>
          </a:p>
        </p:txBody>
      </p:sp>
      <p:sp>
        <p:nvSpPr>
          <p:cNvPr id="5" name="Text 2"/>
          <p:cNvSpPr/>
          <p:nvPr/>
        </p:nvSpPr>
        <p:spPr>
          <a:xfrm>
            <a:off x="365760" y="749808"/>
            <a:ext cx="8412480" cy="566928"/>
          </a:xfrm>
          <a:prstGeom prst="rect">
            <a:avLst/>
          </a:prstGeom>
          <a:noFill/>
          <a:ln/>
        </p:spPr>
        <p:txBody>
          <a:bodyPr wrap="square" lIns="0" tIns="0" rIns="0" bIns="0" rtlCol="0" anchor="ctr"/>
          <a:lstStyle/>
          <a:p>
            <a:pPr marL="0" indent="0">
              <a:buNone/>
            </a:pPr>
            <a:r>
              <a:rPr lang="en-US" sz="3400" b="1" dirty="0">
                <a:solidFill>
                  <a:srgbClr val="1B2D1E"/>
                </a:solidFill>
                <a:latin typeface="Georgia" pitchFamily="34" charset="0"/>
                <a:ea typeface="Georgia" pitchFamily="34" charset="-122"/>
                <a:cs typeface="Georgia" pitchFamily="34" charset="-120"/>
              </a:rPr>
              <a:t>Major Challenges &amp; Solutions</a:t>
            </a:r>
            <a:endParaRPr lang="en-US" sz="3400" dirty="0"/>
          </a:p>
        </p:txBody>
      </p:sp>
      <p:sp>
        <p:nvSpPr>
          <p:cNvPr id="6" name="Shape 3"/>
          <p:cNvSpPr/>
          <p:nvPr/>
        </p:nvSpPr>
        <p:spPr>
          <a:xfrm>
            <a:off x="256032" y="1463040"/>
            <a:ext cx="8631936" cy="1097280"/>
          </a:xfrm>
          <a:prstGeom prst="roundRect">
            <a:avLst>
              <a:gd name="adj" fmla="val 13333"/>
            </a:avLst>
          </a:prstGeom>
          <a:solidFill>
            <a:srgbClr val="FFFFFF"/>
          </a:solidFill>
          <a:ln w="15240">
            <a:solidFill>
              <a:srgbClr val="F59E0B"/>
            </a:solidFill>
            <a:prstDash val="solid"/>
          </a:ln>
          <a:effectLst>
            <a:outerShdw blurRad="127000" dist="38100" dir="8100000" algn="bl" rotWithShape="0">
              <a:srgbClr val="2E4A32">
                <a:alpha val="10000"/>
              </a:srgbClr>
            </a:outerShdw>
          </a:effectLst>
        </p:spPr>
        <p:txBody>
          <a:bodyPr/>
          <a:lstStyle/>
          <a:p>
            <a:endParaRPr lang="en-US"/>
          </a:p>
        </p:txBody>
      </p:sp>
      <p:sp>
        <p:nvSpPr>
          <p:cNvPr id="7" name="Shape 4"/>
          <p:cNvSpPr/>
          <p:nvPr/>
        </p:nvSpPr>
        <p:spPr>
          <a:xfrm>
            <a:off x="256032" y="1463040"/>
            <a:ext cx="109728" cy="1097280"/>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8" name="Shape 5"/>
          <p:cNvSpPr/>
          <p:nvPr/>
        </p:nvSpPr>
        <p:spPr>
          <a:xfrm>
            <a:off x="502920" y="1737360"/>
            <a:ext cx="530352" cy="530352"/>
          </a:xfrm>
          <a:prstGeom prst="ellipse">
            <a:avLst/>
          </a:prstGeom>
          <a:solidFill>
            <a:srgbClr val="FFFDE7"/>
          </a:solidFill>
          <a:ln w="12700">
            <a:solidFill>
              <a:srgbClr val="F59E0B"/>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566928" y="1801368"/>
            <a:ext cx="402336" cy="402336"/>
          </a:xfrm>
          <a:prstGeom prst="rect">
            <a:avLst/>
          </a:prstGeom>
        </p:spPr>
      </p:pic>
      <p:sp>
        <p:nvSpPr>
          <p:cNvPr id="10" name="Text 6"/>
          <p:cNvSpPr/>
          <p:nvPr/>
        </p:nvSpPr>
        <p:spPr>
          <a:xfrm>
            <a:off x="1170432" y="1554480"/>
            <a:ext cx="7589520" cy="292608"/>
          </a:xfrm>
          <a:prstGeom prst="rect">
            <a:avLst/>
          </a:prstGeom>
          <a:noFill/>
          <a:ln/>
        </p:spPr>
        <p:txBody>
          <a:bodyPr wrap="square" lIns="0" tIns="0" rIns="0" bIns="0" rtlCol="0" anchor="ctr"/>
          <a:lstStyle/>
          <a:p>
            <a:pPr marL="0" indent="0">
              <a:buNone/>
            </a:pPr>
            <a:r>
              <a:rPr lang="en-US" sz="1250" b="1" dirty="0">
                <a:solidFill>
                  <a:srgbClr val="1B2D1E"/>
                </a:solidFill>
                <a:latin typeface="Calibri" pitchFamily="34" charset="0"/>
                <a:ea typeface="Calibri" pitchFamily="34" charset="-122"/>
                <a:cs typeface="Calibri" pitchFamily="34" charset="-120"/>
              </a:rPr>
              <a:t>Multi-Provider OAuth &amp; Secure Token Management</a:t>
            </a:r>
            <a:endParaRPr lang="en-US" sz="1250" dirty="0"/>
          </a:p>
        </p:txBody>
      </p:sp>
      <p:sp>
        <p:nvSpPr>
          <p:cNvPr id="11" name="Shape 7"/>
          <p:cNvSpPr/>
          <p:nvPr/>
        </p:nvSpPr>
        <p:spPr>
          <a:xfrm>
            <a:off x="4828032" y="1865376"/>
            <a:ext cx="0" cy="640080"/>
          </a:xfrm>
          <a:prstGeom prst="line">
            <a:avLst/>
          </a:prstGeom>
          <a:noFill/>
          <a:ln w="10160">
            <a:solidFill>
              <a:srgbClr val="F59E0B"/>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170432" y="1865376"/>
            <a:ext cx="164592" cy="164592"/>
          </a:xfrm>
          <a:prstGeom prst="rect">
            <a:avLst/>
          </a:prstGeom>
        </p:spPr>
      </p:pic>
      <p:sp>
        <p:nvSpPr>
          <p:cNvPr id="13" name="Text 8"/>
          <p:cNvSpPr/>
          <p:nvPr/>
        </p:nvSpPr>
        <p:spPr>
          <a:xfrm>
            <a:off x="1389888" y="1847088"/>
            <a:ext cx="3291840" cy="62179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DoorDash and Kroger each require separate OAuth 2.0 flows. Storing and refreshing tokens securely across sessions and both interfaces was complex (UC-11).</a:t>
            </a:r>
            <a:endParaRPr lang="en-US" sz="950" dirty="0"/>
          </a:p>
        </p:txBody>
      </p:sp>
      <p:pic>
        <p:nvPicPr>
          <p:cNvPr id="14" name="Image 3" descr="preencoded.png"/>
          <p:cNvPicPr>
            <a:picLocks noChangeAspect="1"/>
          </p:cNvPicPr>
          <p:nvPr/>
        </p:nvPicPr>
        <p:blipFill>
          <a:blip r:embed="rId6"/>
          <a:stretch>
            <a:fillRect/>
          </a:stretch>
        </p:blipFill>
        <p:spPr>
          <a:xfrm>
            <a:off x="4956048" y="1865376"/>
            <a:ext cx="164592" cy="164592"/>
          </a:xfrm>
          <a:prstGeom prst="rect">
            <a:avLst/>
          </a:prstGeom>
        </p:spPr>
      </p:pic>
      <p:sp>
        <p:nvSpPr>
          <p:cNvPr id="15" name="Text 9"/>
          <p:cNvSpPr/>
          <p:nvPr/>
        </p:nvSpPr>
        <p:spPr>
          <a:xfrm>
            <a:off x="5175504" y="1847088"/>
            <a:ext cx="3566160" cy="62179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OAuth 2.0 with AES-256 encrypted token storage at rest, automatic pre-expiry refresh, and a shared auth middleware for both mobile and TUI clients.</a:t>
            </a:r>
            <a:endParaRPr lang="en-US" sz="950" dirty="0"/>
          </a:p>
        </p:txBody>
      </p:sp>
      <p:sp>
        <p:nvSpPr>
          <p:cNvPr id="16" name="Shape 10"/>
          <p:cNvSpPr/>
          <p:nvPr/>
        </p:nvSpPr>
        <p:spPr>
          <a:xfrm>
            <a:off x="256032" y="2670048"/>
            <a:ext cx="8631936" cy="1097280"/>
          </a:xfrm>
          <a:prstGeom prst="roundRect">
            <a:avLst>
              <a:gd name="adj" fmla="val 13333"/>
            </a:avLst>
          </a:prstGeom>
          <a:solidFill>
            <a:srgbClr val="FFFFFF"/>
          </a:solidFill>
          <a:ln w="15240">
            <a:solidFill>
              <a:srgbClr val="27AE60"/>
            </a:solidFill>
            <a:prstDash val="solid"/>
          </a:ln>
          <a:effectLst>
            <a:outerShdw blurRad="127000" dist="38100" dir="8100000" algn="bl" rotWithShape="0">
              <a:srgbClr val="2E4A32">
                <a:alpha val="10000"/>
              </a:srgbClr>
            </a:outerShdw>
          </a:effectLst>
        </p:spPr>
        <p:txBody>
          <a:bodyPr/>
          <a:lstStyle/>
          <a:p>
            <a:endParaRPr lang="en-US"/>
          </a:p>
        </p:txBody>
      </p:sp>
      <p:sp>
        <p:nvSpPr>
          <p:cNvPr id="17" name="Shape 11"/>
          <p:cNvSpPr/>
          <p:nvPr/>
        </p:nvSpPr>
        <p:spPr>
          <a:xfrm>
            <a:off x="256032" y="2670048"/>
            <a:ext cx="109728" cy="1097280"/>
          </a:xfrm>
          <a:prstGeom prst="roundRect">
            <a:avLst>
              <a:gd name="adj" fmla="val 50000"/>
            </a:avLst>
          </a:prstGeom>
          <a:solidFill>
            <a:srgbClr val="27AE60"/>
          </a:solidFill>
          <a:ln w="12700">
            <a:solidFill>
              <a:srgbClr val="27AE60"/>
            </a:solidFill>
            <a:prstDash val="solid"/>
          </a:ln>
        </p:spPr>
        <p:txBody>
          <a:bodyPr/>
          <a:lstStyle/>
          <a:p>
            <a:endParaRPr lang="en-US"/>
          </a:p>
        </p:txBody>
      </p:sp>
      <p:sp>
        <p:nvSpPr>
          <p:cNvPr id="18" name="Shape 12"/>
          <p:cNvSpPr/>
          <p:nvPr/>
        </p:nvSpPr>
        <p:spPr>
          <a:xfrm>
            <a:off x="502920" y="2944368"/>
            <a:ext cx="530352" cy="530352"/>
          </a:xfrm>
          <a:prstGeom prst="ellipse">
            <a:avLst/>
          </a:prstGeom>
          <a:solidFill>
            <a:srgbClr val="E8F5E9"/>
          </a:solidFill>
          <a:ln w="12700">
            <a:solidFill>
              <a:srgbClr val="27AE60"/>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566928" y="3008376"/>
            <a:ext cx="402336" cy="402336"/>
          </a:xfrm>
          <a:prstGeom prst="rect">
            <a:avLst/>
          </a:prstGeom>
        </p:spPr>
      </p:pic>
      <p:sp>
        <p:nvSpPr>
          <p:cNvPr id="20" name="Text 13"/>
          <p:cNvSpPr/>
          <p:nvPr/>
        </p:nvSpPr>
        <p:spPr>
          <a:xfrm>
            <a:off x="1170432" y="2761488"/>
            <a:ext cx="7589520" cy="292608"/>
          </a:xfrm>
          <a:prstGeom prst="rect">
            <a:avLst/>
          </a:prstGeom>
          <a:noFill/>
          <a:ln/>
        </p:spPr>
        <p:txBody>
          <a:bodyPr wrap="square" lIns="0" tIns="0" rIns="0" bIns="0" rtlCol="0" anchor="ctr"/>
          <a:lstStyle/>
          <a:p>
            <a:pPr marL="0" indent="0">
              <a:buNone/>
            </a:pPr>
            <a:r>
              <a:rPr lang="en-US" sz="1250" b="1" dirty="0">
                <a:solidFill>
                  <a:srgbClr val="1B2D1E"/>
                </a:solidFill>
                <a:latin typeface="Calibri" pitchFamily="34" charset="0"/>
                <a:ea typeface="Calibri" pitchFamily="34" charset="-122"/>
                <a:cs typeface="Calibri" pitchFamily="34" charset="-120"/>
              </a:rPr>
              <a:t>Nutritional Accuracy Across Multi-Constraint Plans</a:t>
            </a:r>
            <a:endParaRPr lang="en-US" sz="1250" dirty="0"/>
          </a:p>
        </p:txBody>
      </p:sp>
      <p:sp>
        <p:nvSpPr>
          <p:cNvPr id="21" name="Shape 14"/>
          <p:cNvSpPr/>
          <p:nvPr/>
        </p:nvSpPr>
        <p:spPr>
          <a:xfrm>
            <a:off x="4828032" y="3072384"/>
            <a:ext cx="0" cy="640080"/>
          </a:xfrm>
          <a:prstGeom prst="line">
            <a:avLst/>
          </a:prstGeom>
          <a:noFill/>
          <a:ln w="10160">
            <a:solidFill>
              <a:srgbClr val="27AE60"/>
            </a:solidFill>
            <a:prstDash val="solid"/>
          </a:ln>
        </p:spPr>
        <p:txBody>
          <a:bodyPr/>
          <a:lstStyle/>
          <a:p>
            <a:endParaRPr lang="en-US"/>
          </a:p>
        </p:txBody>
      </p:sp>
      <p:pic>
        <p:nvPicPr>
          <p:cNvPr id="22" name="Image 5" descr="preencoded.png"/>
          <p:cNvPicPr>
            <a:picLocks noChangeAspect="1"/>
          </p:cNvPicPr>
          <p:nvPr/>
        </p:nvPicPr>
        <p:blipFill>
          <a:blip r:embed="rId5"/>
          <a:stretch>
            <a:fillRect/>
          </a:stretch>
        </p:blipFill>
        <p:spPr>
          <a:xfrm>
            <a:off x="1170432" y="3072384"/>
            <a:ext cx="164592" cy="164592"/>
          </a:xfrm>
          <a:prstGeom prst="rect">
            <a:avLst/>
          </a:prstGeom>
        </p:spPr>
      </p:pic>
      <p:sp>
        <p:nvSpPr>
          <p:cNvPr id="23" name="Text 15"/>
          <p:cNvSpPr/>
          <p:nvPr/>
        </p:nvSpPr>
        <p:spPr>
          <a:xfrm>
            <a:off x="1389888" y="3054096"/>
            <a:ext cx="3291840" cy="62179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Meal plans must satisfy macros, allergies, preferences, budget, and shelf-life simultaneously — a complex constraint-satisfaction problem (UC-01, UC-03, UC-10, UC-20).</a:t>
            </a:r>
            <a:endParaRPr lang="en-US" sz="950" dirty="0"/>
          </a:p>
        </p:txBody>
      </p:sp>
      <p:pic>
        <p:nvPicPr>
          <p:cNvPr id="24" name="Image 6" descr="preencoded.png"/>
          <p:cNvPicPr>
            <a:picLocks noChangeAspect="1"/>
          </p:cNvPicPr>
          <p:nvPr/>
        </p:nvPicPr>
        <p:blipFill>
          <a:blip r:embed="rId6"/>
          <a:stretch>
            <a:fillRect/>
          </a:stretch>
        </p:blipFill>
        <p:spPr>
          <a:xfrm>
            <a:off x="4956048" y="3072384"/>
            <a:ext cx="164592" cy="164592"/>
          </a:xfrm>
          <a:prstGeom prst="rect">
            <a:avLst/>
          </a:prstGeom>
        </p:spPr>
      </p:pic>
      <p:sp>
        <p:nvSpPr>
          <p:cNvPr id="25" name="Text 16"/>
          <p:cNvSpPr/>
          <p:nvPr/>
        </p:nvSpPr>
        <p:spPr>
          <a:xfrm>
            <a:off x="5175504" y="3054096"/>
            <a:ext cx="3566160" cy="62179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Multi-constraint planner using USDA nutritional data, real-time macro validation, batched modification support, and ingredient overlap optimization for meal prep.</a:t>
            </a:r>
            <a:endParaRPr lang="en-US" sz="950" dirty="0"/>
          </a:p>
        </p:txBody>
      </p:sp>
      <p:sp>
        <p:nvSpPr>
          <p:cNvPr id="26" name="Shape 17"/>
          <p:cNvSpPr/>
          <p:nvPr/>
        </p:nvSpPr>
        <p:spPr>
          <a:xfrm>
            <a:off x="256032" y="3877056"/>
            <a:ext cx="8631936" cy="1097280"/>
          </a:xfrm>
          <a:prstGeom prst="roundRect">
            <a:avLst>
              <a:gd name="adj" fmla="val 13333"/>
            </a:avLst>
          </a:prstGeom>
          <a:solidFill>
            <a:srgbClr val="FFFFFF"/>
          </a:solidFill>
          <a:ln w="15240">
            <a:solidFill>
              <a:srgbClr val="14B8A6"/>
            </a:solidFill>
            <a:prstDash val="solid"/>
          </a:ln>
          <a:effectLst>
            <a:outerShdw blurRad="127000" dist="38100" dir="8100000" algn="bl" rotWithShape="0">
              <a:srgbClr val="2E4A32">
                <a:alpha val="10000"/>
              </a:srgbClr>
            </a:outerShdw>
          </a:effectLst>
        </p:spPr>
        <p:txBody>
          <a:bodyPr/>
          <a:lstStyle/>
          <a:p>
            <a:endParaRPr lang="en-US"/>
          </a:p>
        </p:txBody>
      </p:sp>
      <p:sp>
        <p:nvSpPr>
          <p:cNvPr id="27" name="Shape 18"/>
          <p:cNvSpPr/>
          <p:nvPr/>
        </p:nvSpPr>
        <p:spPr>
          <a:xfrm>
            <a:off x="256032" y="3877056"/>
            <a:ext cx="109728" cy="1097280"/>
          </a:xfrm>
          <a:prstGeom prst="roundRect">
            <a:avLst>
              <a:gd name="adj" fmla="val 50000"/>
            </a:avLst>
          </a:prstGeom>
          <a:solidFill>
            <a:srgbClr val="14B8A6"/>
          </a:solidFill>
          <a:ln w="12700">
            <a:solidFill>
              <a:srgbClr val="14B8A6"/>
            </a:solidFill>
            <a:prstDash val="solid"/>
          </a:ln>
        </p:spPr>
        <p:txBody>
          <a:bodyPr/>
          <a:lstStyle/>
          <a:p>
            <a:endParaRPr lang="en-US"/>
          </a:p>
        </p:txBody>
      </p:sp>
      <p:sp>
        <p:nvSpPr>
          <p:cNvPr id="28" name="Shape 19"/>
          <p:cNvSpPr/>
          <p:nvPr/>
        </p:nvSpPr>
        <p:spPr>
          <a:xfrm>
            <a:off x="502920" y="4151376"/>
            <a:ext cx="530352" cy="530352"/>
          </a:xfrm>
          <a:prstGeom prst="ellipse">
            <a:avLst/>
          </a:prstGeom>
          <a:solidFill>
            <a:srgbClr val="E0F7FA"/>
          </a:solidFill>
          <a:ln w="12700">
            <a:solidFill>
              <a:srgbClr val="14B8A6"/>
            </a:solidFill>
            <a:prstDash val="solid"/>
          </a:ln>
        </p:spPr>
        <p:txBody>
          <a:bodyPr/>
          <a:lstStyle/>
          <a:p>
            <a:endParaRPr lang="en-US"/>
          </a:p>
        </p:txBody>
      </p:sp>
      <p:pic>
        <p:nvPicPr>
          <p:cNvPr id="29" name="Image 7" descr="preencoded.png"/>
          <p:cNvPicPr>
            <a:picLocks noChangeAspect="1"/>
          </p:cNvPicPr>
          <p:nvPr/>
        </p:nvPicPr>
        <p:blipFill>
          <a:blip r:embed="rId8"/>
          <a:stretch>
            <a:fillRect/>
          </a:stretch>
        </p:blipFill>
        <p:spPr>
          <a:xfrm>
            <a:off x="566928" y="4215384"/>
            <a:ext cx="402336" cy="402336"/>
          </a:xfrm>
          <a:prstGeom prst="rect">
            <a:avLst/>
          </a:prstGeom>
        </p:spPr>
      </p:pic>
      <p:sp>
        <p:nvSpPr>
          <p:cNvPr id="30" name="Text 20"/>
          <p:cNvSpPr/>
          <p:nvPr/>
        </p:nvSpPr>
        <p:spPr>
          <a:xfrm>
            <a:off x="1170432" y="3968496"/>
            <a:ext cx="7589520" cy="292608"/>
          </a:xfrm>
          <a:prstGeom prst="rect">
            <a:avLst/>
          </a:prstGeom>
          <a:noFill/>
          <a:ln/>
        </p:spPr>
        <p:txBody>
          <a:bodyPr wrap="square" lIns="0" tIns="0" rIns="0" bIns="0" rtlCol="0" anchor="ctr"/>
          <a:lstStyle/>
          <a:p>
            <a:pPr marL="0" indent="0">
              <a:buNone/>
            </a:pPr>
            <a:r>
              <a:rPr lang="en-US" sz="1250" b="1" dirty="0">
                <a:solidFill>
                  <a:srgbClr val="1B2D1E"/>
                </a:solidFill>
                <a:latin typeface="Calibri" pitchFamily="34" charset="0"/>
                <a:ea typeface="Calibri" pitchFamily="34" charset="-122"/>
                <a:cs typeface="Calibri" pitchFamily="34" charset="-120"/>
              </a:rPr>
              <a:t>External API Fragility &amp; Graceful Degradation</a:t>
            </a:r>
            <a:endParaRPr lang="en-US" sz="1250" dirty="0"/>
          </a:p>
        </p:txBody>
      </p:sp>
      <p:sp>
        <p:nvSpPr>
          <p:cNvPr id="31" name="Shape 21"/>
          <p:cNvSpPr/>
          <p:nvPr/>
        </p:nvSpPr>
        <p:spPr>
          <a:xfrm>
            <a:off x="4828032" y="4279392"/>
            <a:ext cx="0" cy="640080"/>
          </a:xfrm>
          <a:prstGeom prst="line">
            <a:avLst/>
          </a:prstGeom>
          <a:noFill/>
          <a:ln w="10160">
            <a:solidFill>
              <a:srgbClr val="14B8A6"/>
            </a:solidFill>
            <a:prstDash val="solid"/>
          </a:ln>
        </p:spPr>
        <p:txBody>
          <a:bodyPr/>
          <a:lstStyle/>
          <a:p>
            <a:endParaRPr lang="en-US"/>
          </a:p>
        </p:txBody>
      </p:sp>
      <p:pic>
        <p:nvPicPr>
          <p:cNvPr id="32" name="Image 8" descr="preencoded.png"/>
          <p:cNvPicPr>
            <a:picLocks noChangeAspect="1"/>
          </p:cNvPicPr>
          <p:nvPr/>
        </p:nvPicPr>
        <p:blipFill>
          <a:blip r:embed="rId5"/>
          <a:stretch>
            <a:fillRect/>
          </a:stretch>
        </p:blipFill>
        <p:spPr>
          <a:xfrm>
            <a:off x="1170432" y="4279392"/>
            <a:ext cx="164592" cy="164592"/>
          </a:xfrm>
          <a:prstGeom prst="rect">
            <a:avLst/>
          </a:prstGeom>
        </p:spPr>
      </p:pic>
      <p:sp>
        <p:nvSpPr>
          <p:cNvPr id="33" name="Text 22"/>
          <p:cNvSpPr/>
          <p:nvPr/>
        </p:nvSpPr>
        <p:spPr>
          <a:xfrm>
            <a:off x="1389888" y="4261104"/>
            <a:ext cx="3291840" cy="62179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DoorDash, Kroger, PubMed, and Google Scholar each had failure modes — downtime, paywalls, rate limits, or no official API (UC-02, UC-04, UC-07).</a:t>
            </a:r>
            <a:endParaRPr lang="en-US" sz="950" dirty="0"/>
          </a:p>
        </p:txBody>
      </p:sp>
      <p:pic>
        <p:nvPicPr>
          <p:cNvPr id="34" name="Image 9" descr="preencoded.png"/>
          <p:cNvPicPr>
            <a:picLocks noChangeAspect="1"/>
          </p:cNvPicPr>
          <p:nvPr/>
        </p:nvPicPr>
        <p:blipFill>
          <a:blip r:embed="rId6"/>
          <a:stretch>
            <a:fillRect/>
          </a:stretch>
        </p:blipFill>
        <p:spPr>
          <a:xfrm>
            <a:off x="4956048" y="4279392"/>
            <a:ext cx="164592" cy="164592"/>
          </a:xfrm>
          <a:prstGeom prst="rect">
            <a:avLst/>
          </a:prstGeom>
        </p:spPr>
      </p:pic>
      <p:sp>
        <p:nvSpPr>
          <p:cNvPr id="35" name="Text 23"/>
          <p:cNvSpPr/>
          <p:nvPr/>
        </p:nvSpPr>
        <p:spPr>
          <a:xfrm>
            <a:off x="5175504" y="4261104"/>
            <a:ext cx="3566160" cy="621792"/>
          </a:xfrm>
          <a:prstGeom prst="rect">
            <a:avLst/>
          </a:prstGeom>
          <a:noFill/>
          <a:ln/>
        </p:spPr>
        <p:txBody>
          <a:bodyPr wrap="square" lIns="0" tIns="0" rIns="0" bIns="0" rtlCol="0" anchor="ctr"/>
          <a:lstStyle/>
          <a:p>
            <a:pPr marL="0" indent="0">
              <a:buNone/>
            </a:pPr>
            <a:r>
              <a:rPr lang="en-US" sz="950" dirty="0">
                <a:solidFill>
                  <a:srgbClr val="6B8F6E"/>
                </a:solidFill>
                <a:latin typeface="Calibri" pitchFamily="34" charset="0"/>
                <a:ea typeface="Calibri" pitchFamily="34" charset="-122"/>
                <a:cs typeface="Calibri" pitchFamily="34" charset="-120"/>
              </a:rPr>
              <a:t>Layered fallback logic: auto-retries with queuing for orders, cross-provider failover for literature search (PubMed ↔ Scholar), and clear status messages per failure.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40080"/>
          </a:xfrm>
          <a:prstGeom prst="rect">
            <a:avLst/>
          </a:prstGeom>
        </p:spPr>
      </p:pic>
      <p:sp>
        <p:nvSpPr>
          <p:cNvPr id="3" name="Shape 0"/>
          <p:cNvSpPr/>
          <p:nvPr/>
        </p:nvSpPr>
        <p:spPr>
          <a:xfrm>
            <a:off x="365760" y="137160"/>
            <a:ext cx="1261872" cy="219456"/>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4" name="Text 1"/>
          <p:cNvSpPr/>
          <p:nvPr/>
        </p:nvSpPr>
        <p:spPr>
          <a:xfrm>
            <a:off x="365760" y="141732"/>
            <a:ext cx="1261872" cy="210312"/>
          </a:xfrm>
          <a:prstGeom prst="rect">
            <a:avLst/>
          </a:prstGeom>
          <a:noFill/>
          <a:ln/>
        </p:spPr>
        <p:txBody>
          <a:bodyPr wrap="square" lIns="0" tIns="0" rIns="0" bIns="0" rtlCol="0" anchor="ctr"/>
          <a:lstStyle/>
          <a:p>
            <a:pPr marL="0" indent="0" algn="ctr">
              <a:buNone/>
            </a:pPr>
            <a:r>
              <a:rPr lang="en-US" sz="750" b="1" kern="0" spc="100" dirty="0">
                <a:solidFill>
                  <a:srgbClr val="27AE60"/>
                </a:solidFill>
                <a:latin typeface="Calibri" pitchFamily="34" charset="0"/>
                <a:ea typeface="Calibri" pitchFamily="34" charset="-122"/>
                <a:cs typeface="Calibri" pitchFamily="34" charset="-120"/>
              </a:rPr>
              <a:t>04  LESSONS</a:t>
            </a:r>
            <a:endParaRPr lang="en-US" sz="750" dirty="0"/>
          </a:p>
        </p:txBody>
      </p:sp>
      <p:sp>
        <p:nvSpPr>
          <p:cNvPr id="5" name="Text 2"/>
          <p:cNvSpPr/>
          <p:nvPr/>
        </p:nvSpPr>
        <p:spPr>
          <a:xfrm>
            <a:off x="365760" y="749808"/>
            <a:ext cx="8412480" cy="566928"/>
          </a:xfrm>
          <a:prstGeom prst="rect">
            <a:avLst/>
          </a:prstGeom>
          <a:noFill/>
          <a:ln/>
        </p:spPr>
        <p:txBody>
          <a:bodyPr wrap="square" lIns="0" tIns="0" rIns="0" bIns="0" rtlCol="0" anchor="ctr"/>
          <a:lstStyle/>
          <a:p>
            <a:pPr marL="0" indent="0">
              <a:buNone/>
            </a:pPr>
            <a:r>
              <a:rPr lang="en-US" sz="3400" b="1" dirty="0">
                <a:solidFill>
                  <a:srgbClr val="1B2D1E"/>
                </a:solidFill>
                <a:latin typeface="Georgia" pitchFamily="34" charset="0"/>
                <a:ea typeface="Georgia" pitchFamily="34" charset="-122"/>
                <a:cs typeface="Georgia" pitchFamily="34" charset="-120"/>
              </a:rPr>
              <a:t>Lessons Learned &amp; Summary</a:t>
            </a:r>
            <a:endParaRPr lang="en-US" sz="3400" dirty="0"/>
          </a:p>
        </p:txBody>
      </p:sp>
      <p:sp>
        <p:nvSpPr>
          <p:cNvPr id="6" name="Text 3"/>
          <p:cNvSpPr/>
          <p:nvPr/>
        </p:nvSpPr>
        <p:spPr>
          <a:xfrm>
            <a:off x="365760" y="1353312"/>
            <a:ext cx="4572000" cy="274320"/>
          </a:xfrm>
          <a:prstGeom prst="rect">
            <a:avLst/>
          </a:prstGeom>
          <a:noFill/>
          <a:ln/>
        </p:spPr>
        <p:txBody>
          <a:bodyPr wrap="square" lIns="0" tIns="0" rIns="0" bIns="0" rtlCol="0" anchor="ctr"/>
          <a:lstStyle/>
          <a:p>
            <a:pPr marL="0" indent="0">
              <a:buNone/>
            </a:pPr>
            <a:r>
              <a:rPr lang="en-US" sz="1200" i="1" dirty="0">
                <a:solidFill>
                  <a:srgbClr val="6B8F6E"/>
                </a:solidFill>
                <a:latin typeface="Calibri" pitchFamily="34" charset="0"/>
                <a:ea typeface="Calibri" pitchFamily="34" charset="-122"/>
                <a:cs typeface="Calibri" pitchFamily="34" charset="-120"/>
              </a:rPr>
              <a:t>Our secrets for success</a:t>
            </a:r>
            <a:endParaRPr lang="en-US" sz="1200" dirty="0"/>
          </a:p>
        </p:txBody>
      </p:sp>
      <p:sp>
        <p:nvSpPr>
          <p:cNvPr id="7" name="Shape 4"/>
          <p:cNvSpPr/>
          <p:nvPr/>
        </p:nvSpPr>
        <p:spPr>
          <a:xfrm>
            <a:off x="256032" y="1737360"/>
            <a:ext cx="4279392" cy="1591056"/>
          </a:xfrm>
          <a:prstGeom prst="roundRect">
            <a:avLst>
              <a:gd name="adj" fmla="val 10345"/>
            </a:avLst>
          </a:prstGeom>
          <a:solidFill>
            <a:srgbClr val="FFFFFF"/>
          </a:solidFill>
          <a:ln w="15240">
            <a:solidFill>
              <a:srgbClr val="EF4444"/>
            </a:solidFill>
            <a:prstDash val="solid"/>
          </a:ln>
          <a:effectLst>
            <a:outerShdw blurRad="127000" dist="38100" dir="8100000" algn="bl" rotWithShape="0">
              <a:srgbClr val="2E4A32">
                <a:alpha val="10000"/>
              </a:srgbClr>
            </a:outerShdw>
          </a:effectLst>
        </p:spPr>
        <p:txBody>
          <a:bodyPr/>
          <a:lstStyle/>
          <a:p>
            <a:endParaRPr lang="en-US"/>
          </a:p>
        </p:txBody>
      </p:sp>
      <p:sp>
        <p:nvSpPr>
          <p:cNvPr id="8" name="Shape 5"/>
          <p:cNvSpPr/>
          <p:nvPr/>
        </p:nvSpPr>
        <p:spPr>
          <a:xfrm>
            <a:off x="256032" y="1737360"/>
            <a:ext cx="91440" cy="1591056"/>
          </a:xfrm>
          <a:prstGeom prst="roundRect">
            <a:avLst>
              <a:gd name="adj" fmla="val 50000"/>
            </a:avLst>
          </a:prstGeom>
          <a:solidFill>
            <a:srgbClr val="EF4444"/>
          </a:solidFill>
          <a:ln w="12700">
            <a:solidFill>
              <a:srgbClr val="EF4444"/>
            </a:solidFill>
            <a:prstDash val="solid"/>
          </a:ln>
        </p:spPr>
        <p:txBody>
          <a:bodyPr/>
          <a:lstStyle/>
          <a:p>
            <a:endParaRPr lang="en-US"/>
          </a:p>
        </p:txBody>
      </p:sp>
      <p:sp>
        <p:nvSpPr>
          <p:cNvPr id="9" name="Shape 6"/>
          <p:cNvSpPr/>
          <p:nvPr/>
        </p:nvSpPr>
        <p:spPr>
          <a:xfrm>
            <a:off x="457200" y="1938528"/>
            <a:ext cx="512064" cy="512064"/>
          </a:xfrm>
          <a:prstGeom prst="ellipse">
            <a:avLst/>
          </a:prstGeom>
          <a:solidFill>
            <a:srgbClr val="FFEBEE"/>
          </a:solidFill>
          <a:ln w="12700">
            <a:solidFill>
              <a:srgbClr val="EF4444"/>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521208" y="2002536"/>
            <a:ext cx="384048" cy="384048"/>
          </a:xfrm>
          <a:prstGeom prst="rect">
            <a:avLst/>
          </a:prstGeom>
        </p:spPr>
      </p:pic>
      <p:sp>
        <p:nvSpPr>
          <p:cNvPr id="11" name="Text 7"/>
          <p:cNvSpPr/>
          <p:nvPr/>
        </p:nvSpPr>
        <p:spPr>
          <a:xfrm>
            <a:off x="1078992" y="1956816"/>
            <a:ext cx="3310128" cy="329184"/>
          </a:xfrm>
          <a:prstGeom prst="rect">
            <a:avLst/>
          </a:prstGeom>
          <a:noFill/>
          <a:ln/>
        </p:spPr>
        <p:txBody>
          <a:bodyPr wrap="square" lIns="0" tIns="0" rIns="0" bIns="0" rtlCol="0" anchor="ctr"/>
          <a:lstStyle/>
          <a:p>
            <a:pPr marL="0" indent="0">
              <a:buNone/>
            </a:pPr>
            <a:r>
              <a:rPr lang="en-US" sz="1300" b="1" dirty="0">
                <a:solidFill>
                  <a:srgbClr val="1B2D1E"/>
                </a:solidFill>
                <a:latin typeface="Calibri" pitchFamily="34" charset="0"/>
                <a:ea typeface="Calibri" pitchFamily="34" charset="-122"/>
                <a:cs typeface="Calibri" pitchFamily="34" charset="-120"/>
              </a:rPr>
              <a:t>Plan Before You Code</a:t>
            </a:r>
            <a:endParaRPr lang="en-US" sz="1300" dirty="0"/>
          </a:p>
        </p:txBody>
      </p:sp>
      <p:sp>
        <p:nvSpPr>
          <p:cNvPr id="12" name="Shape 8"/>
          <p:cNvSpPr/>
          <p:nvPr/>
        </p:nvSpPr>
        <p:spPr>
          <a:xfrm>
            <a:off x="457200" y="2505456"/>
            <a:ext cx="3895344" cy="0"/>
          </a:xfrm>
          <a:prstGeom prst="line">
            <a:avLst/>
          </a:prstGeom>
          <a:noFill/>
          <a:ln w="10160">
            <a:solidFill>
              <a:srgbClr val="EF4444"/>
            </a:solidFill>
            <a:prstDash val="solid"/>
          </a:ln>
        </p:spPr>
        <p:txBody>
          <a:bodyPr/>
          <a:lstStyle/>
          <a:p>
            <a:endParaRPr lang="en-US"/>
          </a:p>
        </p:txBody>
      </p:sp>
      <p:sp>
        <p:nvSpPr>
          <p:cNvPr id="13" name="Text 9"/>
          <p:cNvSpPr/>
          <p:nvPr/>
        </p:nvSpPr>
        <p:spPr>
          <a:xfrm>
            <a:off x="457200" y="2615184"/>
            <a:ext cx="3913632" cy="621792"/>
          </a:xfrm>
          <a:prstGeom prst="rect">
            <a:avLst/>
          </a:prstGeom>
          <a:noFill/>
          <a:ln/>
        </p:spPr>
        <p:txBody>
          <a:bodyPr wrap="square" lIns="0" tIns="0" rIns="0" bIns="0" rtlCol="0" anchor="ctr"/>
          <a:lstStyle/>
          <a:p>
            <a:pPr marL="0" indent="0">
              <a:buNone/>
            </a:pPr>
            <a:r>
              <a:rPr lang="en-US" sz="1000" dirty="0">
                <a:solidFill>
                  <a:srgbClr val="6B8F6E"/>
                </a:solidFill>
                <a:latin typeface="Calibri" pitchFamily="34" charset="0"/>
                <a:ea typeface="Calibri" pitchFamily="34" charset="-122"/>
                <a:cs typeface="Calibri" pitchFamily="34" charset="-120"/>
              </a:rPr>
              <a:t>A well-thought-out architecture and ERD upfront saved us from costly refactors later. Designing 20 use cases first gave the team a shared contract.</a:t>
            </a:r>
            <a:endParaRPr lang="en-US" sz="1000" dirty="0"/>
          </a:p>
        </p:txBody>
      </p:sp>
      <p:sp>
        <p:nvSpPr>
          <p:cNvPr id="14" name="Shape 10"/>
          <p:cNvSpPr/>
          <p:nvPr/>
        </p:nvSpPr>
        <p:spPr>
          <a:xfrm>
            <a:off x="4736592" y="1737360"/>
            <a:ext cx="4279392" cy="1591056"/>
          </a:xfrm>
          <a:prstGeom prst="roundRect">
            <a:avLst>
              <a:gd name="adj" fmla="val 10345"/>
            </a:avLst>
          </a:prstGeom>
          <a:solidFill>
            <a:srgbClr val="FFFFFF"/>
          </a:solidFill>
          <a:ln w="15240">
            <a:solidFill>
              <a:srgbClr val="14B8A6"/>
            </a:solidFill>
            <a:prstDash val="solid"/>
          </a:ln>
          <a:effectLst>
            <a:outerShdw blurRad="127000" dist="38100" dir="8100000" algn="bl" rotWithShape="0">
              <a:srgbClr val="2E4A32">
                <a:alpha val="10000"/>
              </a:srgbClr>
            </a:outerShdw>
          </a:effectLst>
        </p:spPr>
        <p:txBody>
          <a:bodyPr/>
          <a:lstStyle/>
          <a:p>
            <a:endParaRPr lang="en-US"/>
          </a:p>
        </p:txBody>
      </p:sp>
      <p:sp>
        <p:nvSpPr>
          <p:cNvPr id="15" name="Shape 11"/>
          <p:cNvSpPr/>
          <p:nvPr/>
        </p:nvSpPr>
        <p:spPr>
          <a:xfrm>
            <a:off x="4736592" y="1737360"/>
            <a:ext cx="91440" cy="1591056"/>
          </a:xfrm>
          <a:prstGeom prst="roundRect">
            <a:avLst>
              <a:gd name="adj" fmla="val 50000"/>
            </a:avLst>
          </a:prstGeom>
          <a:solidFill>
            <a:srgbClr val="14B8A6"/>
          </a:solidFill>
          <a:ln w="12700">
            <a:solidFill>
              <a:srgbClr val="14B8A6"/>
            </a:solidFill>
            <a:prstDash val="solid"/>
          </a:ln>
        </p:spPr>
        <p:txBody>
          <a:bodyPr/>
          <a:lstStyle/>
          <a:p>
            <a:endParaRPr lang="en-US"/>
          </a:p>
        </p:txBody>
      </p:sp>
      <p:sp>
        <p:nvSpPr>
          <p:cNvPr id="16" name="Shape 12"/>
          <p:cNvSpPr/>
          <p:nvPr/>
        </p:nvSpPr>
        <p:spPr>
          <a:xfrm>
            <a:off x="4937760" y="1938528"/>
            <a:ext cx="512064" cy="512064"/>
          </a:xfrm>
          <a:prstGeom prst="ellipse">
            <a:avLst/>
          </a:prstGeom>
          <a:solidFill>
            <a:srgbClr val="E0F7FA"/>
          </a:solidFill>
          <a:ln w="12700">
            <a:solidFill>
              <a:srgbClr val="14B8A6"/>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5001768" y="2002536"/>
            <a:ext cx="384048" cy="384048"/>
          </a:xfrm>
          <a:prstGeom prst="rect">
            <a:avLst/>
          </a:prstGeom>
        </p:spPr>
      </p:pic>
      <p:sp>
        <p:nvSpPr>
          <p:cNvPr id="18" name="Text 13"/>
          <p:cNvSpPr/>
          <p:nvPr/>
        </p:nvSpPr>
        <p:spPr>
          <a:xfrm>
            <a:off x="5559552" y="1956816"/>
            <a:ext cx="3310128" cy="329184"/>
          </a:xfrm>
          <a:prstGeom prst="rect">
            <a:avLst/>
          </a:prstGeom>
          <a:noFill/>
          <a:ln/>
        </p:spPr>
        <p:txBody>
          <a:bodyPr wrap="square" lIns="0" tIns="0" rIns="0" bIns="0" rtlCol="0" anchor="ctr"/>
          <a:lstStyle/>
          <a:p>
            <a:pPr marL="0" indent="0">
              <a:buNone/>
            </a:pPr>
            <a:r>
              <a:rPr lang="en-US" sz="1300" b="1" dirty="0">
                <a:solidFill>
                  <a:srgbClr val="1B2D1E"/>
                </a:solidFill>
                <a:latin typeface="Calibri" pitchFamily="34" charset="0"/>
                <a:ea typeface="Calibri" pitchFamily="34" charset="-122"/>
                <a:cs typeface="Calibri" pitchFamily="34" charset="-120"/>
              </a:rPr>
              <a:t>Collaborate with Git Discipline</a:t>
            </a:r>
            <a:endParaRPr lang="en-US" sz="1300" dirty="0"/>
          </a:p>
        </p:txBody>
      </p:sp>
      <p:sp>
        <p:nvSpPr>
          <p:cNvPr id="19" name="Shape 14"/>
          <p:cNvSpPr/>
          <p:nvPr/>
        </p:nvSpPr>
        <p:spPr>
          <a:xfrm>
            <a:off x="4937760" y="2505456"/>
            <a:ext cx="3895344" cy="0"/>
          </a:xfrm>
          <a:prstGeom prst="line">
            <a:avLst/>
          </a:prstGeom>
          <a:noFill/>
          <a:ln w="10160">
            <a:solidFill>
              <a:srgbClr val="14B8A6"/>
            </a:solidFill>
            <a:prstDash val="solid"/>
          </a:ln>
        </p:spPr>
        <p:txBody>
          <a:bodyPr/>
          <a:lstStyle/>
          <a:p>
            <a:endParaRPr lang="en-US"/>
          </a:p>
        </p:txBody>
      </p:sp>
      <p:sp>
        <p:nvSpPr>
          <p:cNvPr id="20" name="Text 15"/>
          <p:cNvSpPr/>
          <p:nvPr/>
        </p:nvSpPr>
        <p:spPr>
          <a:xfrm>
            <a:off x="4937760" y="2615184"/>
            <a:ext cx="3913632" cy="621792"/>
          </a:xfrm>
          <a:prstGeom prst="rect">
            <a:avLst/>
          </a:prstGeom>
          <a:noFill/>
          <a:ln/>
        </p:spPr>
        <p:txBody>
          <a:bodyPr wrap="square" lIns="0" tIns="0" rIns="0" bIns="0" rtlCol="0" anchor="ctr"/>
          <a:lstStyle/>
          <a:p>
            <a:pPr marL="0" indent="0">
              <a:buNone/>
            </a:pPr>
            <a:r>
              <a:rPr lang="en-US" sz="1000" dirty="0">
                <a:solidFill>
                  <a:srgbClr val="6B8F6E"/>
                </a:solidFill>
                <a:latin typeface="Calibri" pitchFamily="34" charset="0"/>
                <a:ea typeface="Calibri" pitchFamily="34" charset="-122"/>
                <a:cs typeface="Calibri" pitchFamily="34" charset="-120"/>
              </a:rPr>
              <a:t>Feature branches, pull requests, and code reviews made teamwork structured and conflict-free — critical when multiple people touch the same backend.</a:t>
            </a:r>
            <a:endParaRPr lang="en-US" sz="1000" dirty="0"/>
          </a:p>
        </p:txBody>
      </p:sp>
      <p:sp>
        <p:nvSpPr>
          <p:cNvPr id="21" name="Shape 16"/>
          <p:cNvSpPr/>
          <p:nvPr/>
        </p:nvSpPr>
        <p:spPr>
          <a:xfrm>
            <a:off x="256032" y="3456432"/>
            <a:ext cx="4279392" cy="1591056"/>
          </a:xfrm>
          <a:prstGeom prst="roundRect">
            <a:avLst>
              <a:gd name="adj" fmla="val 10345"/>
            </a:avLst>
          </a:prstGeom>
          <a:solidFill>
            <a:srgbClr val="FFFFFF"/>
          </a:solidFill>
          <a:ln w="15240">
            <a:solidFill>
              <a:srgbClr val="27AE60"/>
            </a:solidFill>
            <a:prstDash val="solid"/>
          </a:ln>
          <a:effectLst>
            <a:outerShdw blurRad="127000" dist="38100" dir="8100000" algn="bl" rotWithShape="0">
              <a:srgbClr val="2E4A32">
                <a:alpha val="10000"/>
              </a:srgbClr>
            </a:outerShdw>
          </a:effectLst>
        </p:spPr>
        <p:txBody>
          <a:bodyPr/>
          <a:lstStyle/>
          <a:p>
            <a:endParaRPr lang="en-US"/>
          </a:p>
        </p:txBody>
      </p:sp>
      <p:sp>
        <p:nvSpPr>
          <p:cNvPr id="22" name="Shape 17"/>
          <p:cNvSpPr/>
          <p:nvPr/>
        </p:nvSpPr>
        <p:spPr>
          <a:xfrm>
            <a:off x="256032" y="3456432"/>
            <a:ext cx="91440" cy="1591056"/>
          </a:xfrm>
          <a:prstGeom prst="roundRect">
            <a:avLst>
              <a:gd name="adj" fmla="val 50000"/>
            </a:avLst>
          </a:prstGeom>
          <a:solidFill>
            <a:srgbClr val="27AE60"/>
          </a:solidFill>
          <a:ln w="12700">
            <a:solidFill>
              <a:srgbClr val="27AE60"/>
            </a:solidFill>
            <a:prstDash val="solid"/>
          </a:ln>
        </p:spPr>
        <p:txBody>
          <a:bodyPr/>
          <a:lstStyle/>
          <a:p>
            <a:endParaRPr lang="en-US"/>
          </a:p>
        </p:txBody>
      </p:sp>
      <p:sp>
        <p:nvSpPr>
          <p:cNvPr id="23" name="Shape 18"/>
          <p:cNvSpPr/>
          <p:nvPr/>
        </p:nvSpPr>
        <p:spPr>
          <a:xfrm>
            <a:off x="457200" y="3657600"/>
            <a:ext cx="512064" cy="512064"/>
          </a:xfrm>
          <a:prstGeom prst="ellipse">
            <a:avLst/>
          </a:prstGeom>
          <a:solidFill>
            <a:srgbClr val="E8F5E9"/>
          </a:solidFill>
          <a:ln w="12700">
            <a:solidFill>
              <a:srgbClr val="27AE6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521208" y="3721608"/>
            <a:ext cx="384048" cy="384048"/>
          </a:xfrm>
          <a:prstGeom prst="rect">
            <a:avLst/>
          </a:prstGeom>
        </p:spPr>
      </p:pic>
      <p:sp>
        <p:nvSpPr>
          <p:cNvPr id="25" name="Text 19"/>
          <p:cNvSpPr/>
          <p:nvPr/>
        </p:nvSpPr>
        <p:spPr>
          <a:xfrm>
            <a:off x="1078992" y="3675888"/>
            <a:ext cx="3310128" cy="329184"/>
          </a:xfrm>
          <a:prstGeom prst="rect">
            <a:avLst/>
          </a:prstGeom>
          <a:noFill/>
          <a:ln/>
        </p:spPr>
        <p:txBody>
          <a:bodyPr wrap="square" lIns="0" tIns="0" rIns="0" bIns="0" rtlCol="0" anchor="ctr"/>
          <a:lstStyle/>
          <a:p>
            <a:pPr marL="0" indent="0">
              <a:buNone/>
            </a:pPr>
            <a:r>
              <a:rPr lang="en-US" sz="1300" b="1" dirty="0">
                <a:solidFill>
                  <a:srgbClr val="1B2D1E"/>
                </a:solidFill>
                <a:latin typeface="Calibri" pitchFamily="34" charset="0"/>
                <a:ea typeface="Calibri" pitchFamily="34" charset="-122"/>
                <a:cs typeface="Calibri" pitchFamily="34" charset="-120"/>
              </a:rPr>
              <a:t>Test Early &amp; Often</a:t>
            </a:r>
            <a:endParaRPr lang="en-US" sz="1300" dirty="0"/>
          </a:p>
        </p:txBody>
      </p:sp>
      <p:sp>
        <p:nvSpPr>
          <p:cNvPr id="26" name="Shape 20"/>
          <p:cNvSpPr/>
          <p:nvPr/>
        </p:nvSpPr>
        <p:spPr>
          <a:xfrm>
            <a:off x="457200" y="4224528"/>
            <a:ext cx="3895344" cy="0"/>
          </a:xfrm>
          <a:prstGeom prst="line">
            <a:avLst/>
          </a:prstGeom>
          <a:noFill/>
          <a:ln w="10160">
            <a:solidFill>
              <a:srgbClr val="27AE60"/>
            </a:solidFill>
            <a:prstDash val="solid"/>
          </a:ln>
        </p:spPr>
        <p:txBody>
          <a:bodyPr/>
          <a:lstStyle/>
          <a:p>
            <a:endParaRPr lang="en-US"/>
          </a:p>
        </p:txBody>
      </p:sp>
      <p:sp>
        <p:nvSpPr>
          <p:cNvPr id="27" name="Text 21"/>
          <p:cNvSpPr/>
          <p:nvPr/>
        </p:nvSpPr>
        <p:spPr>
          <a:xfrm>
            <a:off x="457200" y="4334256"/>
            <a:ext cx="3913632" cy="621792"/>
          </a:xfrm>
          <a:prstGeom prst="rect">
            <a:avLst/>
          </a:prstGeom>
          <a:noFill/>
          <a:ln/>
        </p:spPr>
        <p:txBody>
          <a:bodyPr wrap="square" lIns="0" tIns="0" rIns="0" bIns="0" rtlCol="0" anchor="ctr"/>
          <a:lstStyle/>
          <a:p>
            <a:pPr marL="0" indent="0">
              <a:buNone/>
            </a:pPr>
            <a:r>
              <a:rPr lang="en-US" sz="1000" dirty="0">
                <a:solidFill>
                  <a:srgbClr val="6B8F6E"/>
                </a:solidFill>
                <a:latin typeface="Calibri" pitchFamily="34" charset="0"/>
                <a:ea typeface="Calibri" pitchFamily="34" charset="-122"/>
                <a:cs typeface="Calibri" pitchFamily="34" charset="-120"/>
              </a:rPr>
              <a:t>Writing tests alongside features caught bugs before they compounded. Especially important for the multi-constraint nutrition planner logic.</a:t>
            </a:r>
            <a:endParaRPr lang="en-US" sz="1000" dirty="0"/>
          </a:p>
        </p:txBody>
      </p:sp>
      <p:sp>
        <p:nvSpPr>
          <p:cNvPr id="28" name="Shape 22"/>
          <p:cNvSpPr/>
          <p:nvPr/>
        </p:nvSpPr>
        <p:spPr>
          <a:xfrm>
            <a:off x="4736592" y="3456432"/>
            <a:ext cx="4279392" cy="1591056"/>
          </a:xfrm>
          <a:prstGeom prst="roundRect">
            <a:avLst>
              <a:gd name="adj" fmla="val 10345"/>
            </a:avLst>
          </a:prstGeom>
          <a:solidFill>
            <a:srgbClr val="FFFFFF"/>
          </a:solidFill>
          <a:ln w="15240">
            <a:solidFill>
              <a:srgbClr val="F59E0B"/>
            </a:solidFill>
            <a:prstDash val="solid"/>
          </a:ln>
          <a:effectLst>
            <a:outerShdw blurRad="127000" dist="38100" dir="8100000" algn="bl" rotWithShape="0">
              <a:srgbClr val="2E4A32">
                <a:alpha val="10000"/>
              </a:srgbClr>
            </a:outerShdw>
          </a:effectLst>
        </p:spPr>
        <p:txBody>
          <a:bodyPr/>
          <a:lstStyle/>
          <a:p>
            <a:endParaRPr lang="en-US"/>
          </a:p>
        </p:txBody>
      </p:sp>
      <p:sp>
        <p:nvSpPr>
          <p:cNvPr id="29" name="Shape 23"/>
          <p:cNvSpPr/>
          <p:nvPr/>
        </p:nvSpPr>
        <p:spPr>
          <a:xfrm>
            <a:off x="4736592" y="3456432"/>
            <a:ext cx="91440" cy="1591056"/>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30" name="Shape 24"/>
          <p:cNvSpPr/>
          <p:nvPr/>
        </p:nvSpPr>
        <p:spPr>
          <a:xfrm>
            <a:off x="4937760" y="3657600"/>
            <a:ext cx="512064" cy="512064"/>
          </a:xfrm>
          <a:prstGeom prst="ellipse">
            <a:avLst/>
          </a:prstGeom>
          <a:solidFill>
            <a:srgbClr val="FFFDE7"/>
          </a:solidFill>
          <a:ln w="12700">
            <a:solidFill>
              <a:srgbClr val="F59E0B"/>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5001768" y="3721608"/>
            <a:ext cx="384048" cy="384048"/>
          </a:xfrm>
          <a:prstGeom prst="rect">
            <a:avLst/>
          </a:prstGeom>
        </p:spPr>
      </p:pic>
      <p:sp>
        <p:nvSpPr>
          <p:cNvPr id="32" name="Text 25"/>
          <p:cNvSpPr/>
          <p:nvPr/>
        </p:nvSpPr>
        <p:spPr>
          <a:xfrm>
            <a:off x="5559552" y="3675888"/>
            <a:ext cx="3310128" cy="329184"/>
          </a:xfrm>
          <a:prstGeom prst="rect">
            <a:avLst/>
          </a:prstGeom>
          <a:noFill/>
          <a:ln/>
        </p:spPr>
        <p:txBody>
          <a:bodyPr wrap="square" lIns="0" tIns="0" rIns="0" bIns="0" rtlCol="0" anchor="ctr"/>
          <a:lstStyle/>
          <a:p>
            <a:pPr marL="0" indent="0">
              <a:buNone/>
            </a:pPr>
            <a:r>
              <a:rPr lang="en-US" sz="1300" b="1" dirty="0">
                <a:solidFill>
                  <a:srgbClr val="1B2D1E"/>
                </a:solidFill>
                <a:latin typeface="Calibri" pitchFamily="34" charset="0"/>
                <a:ea typeface="Calibri" pitchFamily="34" charset="-122"/>
                <a:cs typeface="Calibri" pitchFamily="34" charset="-120"/>
              </a:rPr>
              <a:t>User Experience First</a:t>
            </a:r>
            <a:endParaRPr lang="en-US" sz="1300" dirty="0"/>
          </a:p>
        </p:txBody>
      </p:sp>
      <p:sp>
        <p:nvSpPr>
          <p:cNvPr id="33" name="Shape 26"/>
          <p:cNvSpPr/>
          <p:nvPr/>
        </p:nvSpPr>
        <p:spPr>
          <a:xfrm>
            <a:off x="4937760" y="4224528"/>
            <a:ext cx="3895344" cy="0"/>
          </a:xfrm>
          <a:prstGeom prst="line">
            <a:avLst/>
          </a:prstGeom>
          <a:noFill/>
          <a:ln w="10160">
            <a:solidFill>
              <a:srgbClr val="F59E0B"/>
            </a:solidFill>
            <a:prstDash val="solid"/>
          </a:ln>
        </p:spPr>
        <p:txBody>
          <a:bodyPr/>
          <a:lstStyle/>
          <a:p>
            <a:endParaRPr lang="en-US"/>
          </a:p>
        </p:txBody>
      </p:sp>
      <p:sp>
        <p:nvSpPr>
          <p:cNvPr id="34" name="Text 27"/>
          <p:cNvSpPr/>
          <p:nvPr/>
        </p:nvSpPr>
        <p:spPr>
          <a:xfrm>
            <a:off x="4937760" y="4334256"/>
            <a:ext cx="3913632" cy="621792"/>
          </a:xfrm>
          <a:prstGeom prst="rect">
            <a:avLst/>
          </a:prstGeom>
          <a:noFill/>
          <a:ln/>
        </p:spPr>
        <p:txBody>
          <a:bodyPr wrap="square" lIns="0" tIns="0" rIns="0" bIns="0" rtlCol="0" anchor="ctr"/>
          <a:lstStyle/>
          <a:p>
            <a:pPr marL="0" indent="0">
              <a:buNone/>
            </a:pPr>
            <a:r>
              <a:rPr lang="en-US" sz="1000" dirty="0">
                <a:solidFill>
                  <a:srgbClr val="6B8F6E"/>
                </a:solidFill>
                <a:latin typeface="Calibri" pitchFamily="34" charset="0"/>
                <a:ea typeface="Calibri" pitchFamily="34" charset="-122"/>
                <a:cs typeface="Calibri" pitchFamily="34" charset="-120"/>
              </a:rPr>
              <a:t>Focusing on intuitive UX from the start — 48dp touch targets, responsive layouts, clear notifications — resulted in a cleaner, cohesive product.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D1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0" y="-1097280"/>
            <a:ext cx="4572000" cy="4572000"/>
          </a:xfrm>
          <a:prstGeom prst="rect">
            <a:avLst/>
          </a:prstGeom>
        </p:spPr>
      </p:pic>
      <p:pic>
        <p:nvPicPr>
          <p:cNvPr id="3" name="Image 1" descr="preencoded.png"/>
          <p:cNvPicPr>
            <a:picLocks noChangeAspect="1"/>
          </p:cNvPicPr>
          <p:nvPr/>
        </p:nvPicPr>
        <p:blipFill>
          <a:blip r:embed="rId4"/>
          <a:stretch>
            <a:fillRect/>
          </a:stretch>
        </p:blipFill>
        <p:spPr>
          <a:xfrm>
            <a:off x="6400800" y="2286000"/>
            <a:ext cx="3474720" cy="3474720"/>
          </a:xfrm>
          <a:prstGeom prst="rect">
            <a:avLst/>
          </a:prstGeom>
        </p:spPr>
      </p:pic>
      <p:pic>
        <p:nvPicPr>
          <p:cNvPr id="4" name="Image 2" descr="preencoded.png"/>
          <p:cNvPicPr>
            <a:picLocks noChangeAspect="1"/>
          </p:cNvPicPr>
          <p:nvPr/>
        </p:nvPicPr>
        <p:blipFill>
          <a:blip r:embed="rId5"/>
          <a:stretch>
            <a:fillRect/>
          </a:stretch>
        </p:blipFill>
        <p:spPr>
          <a:xfrm>
            <a:off x="4114800" y="-731520"/>
            <a:ext cx="2743200" cy="2743200"/>
          </a:xfrm>
          <a:prstGeom prst="rect">
            <a:avLst/>
          </a:prstGeom>
        </p:spPr>
      </p:pic>
      <p:pic>
        <p:nvPicPr>
          <p:cNvPr id="5" name="Image 3" descr="preencoded.png"/>
          <p:cNvPicPr>
            <a:picLocks noChangeAspect="1"/>
          </p:cNvPicPr>
          <p:nvPr/>
        </p:nvPicPr>
        <p:blipFill>
          <a:blip r:embed="rId6"/>
          <a:stretch>
            <a:fillRect/>
          </a:stretch>
        </p:blipFill>
        <p:spPr>
          <a:xfrm>
            <a:off x="-914400" y="-731520"/>
            <a:ext cx="4572000" cy="4572000"/>
          </a:xfrm>
          <a:prstGeom prst="rect">
            <a:avLst/>
          </a:prstGeom>
        </p:spPr>
      </p:pic>
      <p:sp>
        <p:nvSpPr>
          <p:cNvPr id="6" name="Shape 0"/>
          <p:cNvSpPr/>
          <p:nvPr/>
        </p:nvSpPr>
        <p:spPr>
          <a:xfrm>
            <a:off x="1828800" y="502920"/>
            <a:ext cx="5486400" cy="4133088"/>
          </a:xfrm>
          <a:prstGeom prst="roundRect">
            <a:avLst>
              <a:gd name="adj" fmla="val 6195"/>
            </a:avLst>
          </a:prstGeom>
          <a:solidFill>
            <a:srgbClr val="182818"/>
          </a:solidFill>
          <a:ln w="12700">
            <a:solidFill>
              <a:srgbClr val="27AE60"/>
            </a:solidFill>
            <a:prstDash val="solid"/>
          </a:ln>
          <a:effectLst>
            <a:outerShdw blurRad="254000" dist="76200" dir="8100000" algn="bl" rotWithShape="0">
              <a:srgbClr val="000000">
                <a:alpha val="50000"/>
              </a:srgbClr>
            </a:outerShdw>
          </a:effectLst>
        </p:spPr>
        <p:txBody>
          <a:bodyPr/>
          <a:lstStyle/>
          <a:p>
            <a:endParaRPr lang="en-US"/>
          </a:p>
        </p:txBody>
      </p:sp>
      <p:pic>
        <p:nvPicPr>
          <p:cNvPr id="7" name="Image 4" descr="preencoded.png"/>
          <p:cNvPicPr>
            <a:picLocks noChangeAspect="1"/>
          </p:cNvPicPr>
          <p:nvPr/>
        </p:nvPicPr>
        <p:blipFill>
          <a:blip r:embed="rId7"/>
          <a:stretch>
            <a:fillRect/>
          </a:stretch>
        </p:blipFill>
        <p:spPr>
          <a:xfrm>
            <a:off x="1828800" y="502920"/>
            <a:ext cx="5486400" cy="64008"/>
          </a:xfrm>
          <a:prstGeom prst="rect">
            <a:avLst/>
          </a:prstGeom>
        </p:spPr>
      </p:pic>
      <p:sp>
        <p:nvSpPr>
          <p:cNvPr id="8" name="Shape 1"/>
          <p:cNvSpPr/>
          <p:nvPr/>
        </p:nvSpPr>
        <p:spPr>
          <a:xfrm>
            <a:off x="4023360" y="804672"/>
            <a:ext cx="1097280" cy="1097280"/>
          </a:xfrm>
          <a:prstGeom prst="ellipse">
            <a:avLst/>
          </a:prstGeom>
          <a:solidFill>
            <a:srgbClr val="1E3A1E"/>
          </a:solidFill>
          <a:ln w="25400">
            <a:solidFill>
              <a:srgbClr val="3CB371"/>
            </a:solidFill>
            <a:prstDash val="solid"/>
          </a:ln>
        </p:spPr>
        <p:txBody>
          <a:bodyPr/>
          <a:lstStyle/>
          <a:p>
            <a:endParaRPr lang="en-US"/>
          </a:p>
        </p:txBody>
      </p:sp>
      <p:pic>
        <p:nvPicPr>
          <p:cNvPr id="9" name="Image 5" descr="preencoded.png"/>
          <p:cNvPicPr>
            <a:picLocks noChangeAspect="1"/>
          </p:cNvPicPr>
          <p:nvPr/>
        </p:nvPicPr>
        <p:blipFill>
          <a:blip r:embed="rId8"/>
          <a:stretch>
            <a:fillRect/>
          </a:stretch>
        </p:blipFill>
        <p:spPr>
          <a:xfrm>
            <a:off x="4224528" y="1005840"/>
            <a:ext cx="694944" cy="694944"/>
          </a:xfrm>
          <a:prstGeom prst="rect">
            <a:avLst/>
          </a:prstGeom>
        </p:spPr>
      </p:pic>
      <p:sp>
        <p:nvSpPr>
          <p:cNvPr id="10" name="Text 2"/>
          <p:cNvSpPr/>
          <p:nvPr/>
        </p:nvSpPr>
        <p:spPr>
          <a:xfrm>
            <a:off x="1828800" y="2011680"/>
            <a:ext cx="5486400" cy="868680"/>
          </a:xfrm>
          <a:prstGeom prst="rect">
            <a:avLst/>
          </a:prstGeom>
          <a:noFill/>
          <a:ln/>
        </p:spPr>
        <p:txBody>
          <a:bodyPr wrap="square" lIns="0" tIns="0" rIns="0" bIns="0" rtlCol="0" anchor="ctr"/>
          <a:lstStyle/>
          <a:p>
            <a:pPr marL="0" indent="0" algn="ctr">
              <a:buNone/>
            </a:pPr>
            <a:r>
              <a:rPr lang="en-US" sz="5000" b="1" dirty="0">
                <a:solidFill>
                  <a:srgbClr val="FFFFFF"/>
                </a:solidFill>
                <a:latin typeface="Georgia" pitchFamily="34" charset="0"/>
                <a:ea typeface="Georgia" pitchFamily="34" charset="-122"/>
                <a:cs typeface="Georgia" pitchFamily="34" charset="-120"/>
              </a:rPr>
              <a:t>Thank You!</a:t>
            </a:r>
            <a:endParaRPr lang="en-US" sz="5000" dirty="0"/>
          </a:p>
        </p:txBody>
      </p:sp>
      <p:pic>
        <p:nvPicPr>
          <p:cNvPr id="11" name="Image 6" descr="preencoded.png"/>
          <p:cNvPicPr>
            <a:picLocks noChangeAspect="1"/>
          </p:cNvPicPr>
          <p:nvPr/>
        </p:nvPicPr>
        <p:blipFill>
          <a:blip r:embed="rId9"/>
          <a:stretch>
            <a:fillRect/>
          </a:stretch>
        </p:blipFill>
        <p:spPr>
          <a:xfrm>
            <a:off x="2514600" y="2962656"/>
            <a:ext cx="4114800" cy="36576"/>
          </a:xfrm>
          <a:prstGeom prst="rect">
            <a:avLst/>
          </a:prstGeom>
        </p:spPr>
      </p:pic>
      <p:sp>
        <p:nvSpPr>
          <p:cNvPr id="12" name="Text 3"/>
          <p:cNvSpPr/>
          <p:nvPr/>
        </p:nvSpPr>
        <p:spPr>
          <a:xfrm>
            <a:off x="1828800" y="3072384"/>
            <a:ext cx="5486400" cy="402336"/>
          </a:xfrm>
          <a:prstGeom prst="rect">
            <a:avLst/>
          </a:prstGeom>
          <a:noFill/>
          <a:ln/>
        </p:spPr>
        <p:txBody>
          <a:bodyPr wrap="square" lIns="0" tIns="0" rIns="0" bIns="0" rtlCol="0" anchor="ctr"/>
          <a:lstStyle/>
          <a:p>
            <a:pPr marL="0" indent="0" algn="ctr">
              <a:buNone/>
            </a:pPr>
            <a:r>
              <a:rPr lang="en-US" sz="1800" i="1" dirty="0">
                <a:solidFill>
                  <a:srgbClr val="7AAA7A"/>
                </a:solidFill>
                <a:latin typeface="Calibri" pitchFamily="34" charset="0"/>
                <a:ea typeface="Calibri" pitchFamily="34" charset="-122"/>
                <a:cs typeface="Calibri" pitchFamily="34" charset="-120"/>
              </a:rPr>
              <a:t>Questions &amp; Discussion</a:t>
            </a:r>
            <a:endParaRPr lang="en-US" sz="1800" dirty="0"/>
          </a:p>
        </p:txBody>
      </p:sp>
      <p:sp>
        <p:nvSpPr>
          <p:cNvPr id="13" name="Shape 4"/>
          <p:cNvSpPr/>
          <p:nvPr/>
        </p:nvSpPr>
        <p:spPr>
          <a:xfrm>
            <a:off x="2926080" y="3657600"/>
            <a:ext cx="3291840" cy="310896"/>
          </a:xfrm>
          <a:prstGeom prst="roundRect">
            <a:avLst>
              <a:gd name="adj" fmla="val 50000"/>
            </a:avLst>
          </a:prstGeom>
          <a:solidFill>
            <a:srgbClr val="1E3A1E"/>
          </a:solidFill>
          <a:ln w="10160">
            <a:solidFill>
              <a:srgbClr val="27AE60"/>
            </a:solidFill>
            <a:prstDash val="solid"/>
          </a:ln>
        </p:spPr>
        <p:txBody>
          <a:bodyPr/>
          <a:lstStyle/>
          <a:p>
            <a:endParaRPr lang="en-US"/>
          </a:p>
        </p:txBody>
      </p:sp>
      <p:pic>
        <p:nvPicPr>
          <p:cNvPr id="14" name="Image 7" descr="preencoded.png"/>
          <p:cNvPicPr>
            <a:picLocks noChangeAspect="1"/>
          </p:cNvPicPr>
          <p:nvPr/>
        </p:nvPicPr>
        <p:blipFill>
          <a:blip r:embed="rId10"/>
          <a:stretch>
            <a:fillRect/>
          </a:stretch>
        </p:blipFill>
        <p:spPr>
          <a:xfrm>
            <a:off x="3035808" y="3712464"/>
            <a:ext cx="182880" cy="182880"/>
          </a:xfrm>
          <a:prstGeom prst="rect">
            <a:avLst/>
          </a:prstGeom>
        </p:spPr>
      </p:pic>
      <p:sp>
        <p:nvSpPr>
          <p:cNvPr id="15" name="Text 5"/>
          <p:cNvSpPr/>
          <p:nvPr/>
        </p:nvSpPr>
        <p:spPr>
          <a:xfrm>
            <a:off x="3255264" y="3662172"/>
            <a:ext cx="2834640" cy="301752"/>
          </a:xfrm>
          <a:prstGeom prst="rect">
            <a:avLst/>
          </a:prstGeom>
          <a:noFill/>
          <a:ln/>
        </p:spPr>
        <p:txBody>
          <a:bodyPr wrap="square" lIns="0" tIns="0" rIns="0" bIns="0" rtlCol="0" anchor="ctr"/>
          <a:lstStyle/>
          <a:p>
            <a:pPr marL="0" indent="0">
              <a:buNone/>
            </a:pPr>
            <a:r>
              <a:rPr lang="en-US" sz="1050" dirty="0">
                <a:solidFill>
                  <a:srgbClr val="7AAA7A"/>
                </a:solidFill>
                <a:latin typeface="Calibri" pitchFamily="34" charset="0"/>
                <a:ea typeface="Calibri" pitchFamily="34" charset="-122"/>
                <a:cs typeface="Calibri" pitchFamily="34" charset="-120"/>
              </a:rPr>
              <a:t>github.com/dvillago/Just_Eat</a:t>
            </a:r>
            <a:endParaRPr lang="en-US" sz="1050" dirty="0"/>
          </a:p>
        </p:txBody>
      </p:sp>
      <p:sp>
        <p:nvSpPr>
          <p:cNvPr id="16" name="Shape 6"/>
          <p:cNvSpPr/>
          <p:nvPr/>
        </p:nvSpPr>
        <p:spPr>
          <a:xfrm>
            <a:off x="2103120" y="4206240"/>
            <a:ext cx="91440" cy="91440"/>
          </a:xfrm>
          <a:prstGeom prst="ellipse">
            <a:avLst/>
          </a:prstGeom>
          <a:solidFill>
            <a:srgbClr val="3CB371"/>
          </a:solidFill>
          <a:ln w="12700">
            <a:solidFill>
              <a:srgbClr val="3CB371"/>
            </a:solidFill>
            <a:prstDash val="solid"/>
          </a:ln>
        </p:spPr>
        <p:txBody>
          <a:bodyPr/>
          <a:lstStyle/>
          <a:p>
            <a:endParaRPr lang="en-US"/>
          </a:p>
        </p:txBody>
      </p:sp>
      <p:sp>
        <p:nvSpPr>
          <p:cNvPr id="17" name="Text 7"/>
          <p:cNvSpPr/>
          <p:nvPr/>
        </p:nvSpPr>
        <p:spPr>
          <a:xfrm>
            <a:off x="2231136" y="4169664"/>
            <a:ext cx="868680" cy="182880"/>
          </a:xfrm>
          <a:prstGeom prst="rect">
            <a:avLst/>
          </a:prstGeom>
          <a:noFill/>
          <a:ln/>
        </p:spPr>
        <p:txBody>
          <a:bodyPr wrap="square" lIns="0" tIns="0" rIns="0" bIns="0" rtlCol="0" anchor="ctr"/>
          <a:lstStyle/>
          <a:p>
            <a:pPr marL="0" indent="0">
              <a:buNone/>
            </a:pPr>
            <a:r>
              <a:rPr lang="en-US" sz="800" dirty="0">
                <a:solidFill>
                  <a:srgbClr val="5A7A5A"/>
                </a:solidFill>
                <a:latin typeface="Calibri" pitchFamily="34" charset="0"/>
                <a:ea typeface="Calibri" pitchFamily="34" charset="-122"/>
                <a:cs typeface="Calibri" pitchFamily="34" charset="-120"/>
              </a:rPr>
              <a:t>Protein</a:t>
            </a:r>
            <a:endParaRPr lang="en-US" sz="800" dirty="0"/>
          </a:p>
        </p:txBody>
      </p:sp>
      <p:sp>
        <p:nvSpPr>
          <p:cNvPr id="18" name="Shape 8"/>
          <p:cNvSpPr/>
          <p:nvPr/>
        </p:nvSpPr>
        <p:spPr>
          <a:xfrm>
            <a:off x="3127248" y="4206240"/>
            <a:ext cx="91440" cy="91440"/>
          </a:xfrm>
          <a:prstGeom prst="ellipse">
            <a:avLst/>
          </a:prstGeom>
          <a:solidFill>
            <a:srgbClr val="F97316"/>
          </a:solidFill>
          <a:ln w="12700">
            <a:solidFill>
              <a:srgbClr val="F97316"/>
            </a:solidFill>
            <a:prstDash val="solid"/>
          </a:ln>
        </p:spPr>
        <p:txBody>
          <a:bodyPr/>
          <a:lstStyle/>
          <a:p>
            <a:endParaRPr lang="en-US"/>
          </a:p>
        </p:txBody>
      </p:sp>
      <p:sp>
        <p:nvSpPr>
          <p:cNvPr id="19" name="Text 9"/>
          <p:cNvSpPr/>
          <p:nvPr/>
        </p:nvSpPr>
        <p:spPr>
          <a:xfrm>
            <a:off x="3255264" y="4169664"/>
            <a:ext cx="868680" cy="182880"/>
          </a:xfrm>
          <a:prstGeom prst="rect">
            <a:avLst/>
          </a:prstGeom>
          <a:noFill/>
          <a:ln/>
        </p:spPr>
        <p:txBody>
          <a:bodyPr wrap="square" lIns="0" tIns="0" rIns="0" bIns="0" rtlCol="0" anchor="ctr"/>
          <a:lstStyle/>
          <a:p>
            <a:pPr marL="0" indent="0">
              <a:buNone/>
            </a:pPr>
            <a:r>
              <a:rPr lang="en-US" sz="800" dirty="0">
                <a:solidFill>
                  <a:srgbClr val="5A7A5A"/>
                </a:solidFill>
                <a:latin typeface="Calibri" pitchFamily="34" charset="0"/>
                <a:ea typeface="Calibri" pitchFamily="34" charset="-122"/>
                <a:cs typeface="Calibri" pitchFamily="34" charset="-120"/>
              </a:rPr>
              <a:t>Carbs</a:t>
            </a:r>
            <a:endParaRPr lang="en-US" sz="800" dirty="0"/>
          </a:p>
        </p:txBody>
      </p:sp>
      <p:sp>
        <p:nvSpPr>
          <p:cNvPr id="20" name="Shape 10"/>
          <p:cNvSpPr/>
          <p:nvPr/>
        </p:nvSpPr>
        <p:spPr>
          <a:xfrm>
            <a:off x="4151376" y="4206240"/>
            <a:ext cx="91440" cy="91440"/>
          </a:xfrm>
          <a:prstGeom prst="ellipse">
            <a:avLst/>
          </a:prstGeom>
          <a:solidFill>
            <a:srgbClr val="3B82F6"/>
          </a:solidFill>
          <a:ln w="12700">
            <a:solidFill>
              <a:srgbClr val="3B82F6"/>
            </a:solidFill>
            <a:prstDash val="solid"/>
          </a:ln>
        </p:spPr>
        <p:txBody>
          <a:bodyPr/>
          <a:lstStyle/>
          <a:p>
            <a:endParaRPr lang="en-US"/>
          </a:p>
        </p:txBody>
      </p:sp>
      <p:sp>
        <p:nvSpPr>
          <p:cNvPr id="21" name="Text 11"/>
          <p:cNvSpPr/>
          <p:nvPr/>
        </p:nvSpPr>
        <p:spPr>
          <a:xfrm>
            <a:off x="4279392" y="4169664"/>
            <a:ext cx="868680" cy="182880"/>
          </a:xfrm>
          <a:prstGeom prst="rect">
            <a:avLst/>
          </a:prstGeom>
          <a:noFill/>
          <a:ln/>
        </p:spPr>
        <p:txBody>
          <a:bodyPr wrap="square" lIns="0" tIns="0" rIns="0" bIns="0" rtlCol="0" anchor="ctr"/>
          <a:lstStyle/>
          <a:p>
            <a:pPr marL="0" indent="0">
              <a:buNone/>
            </a:pPr>
            <a:r>
              <a:rPr lang="en-US" sz="800" dirty="0">
                <a:solidFill>
                  <a:srgbClr val="5A7A5A"/>
                </a:solidFill>
                <a:latin typeface="Calibri" pitchFamily="34" charset="0"/>
                <a:ea typeface="Calibri" pitchFamily="34" charset="-122"/>
                <a:cs typeface="Calibri" pitchFamily="34" charset="-120"/>
              </a:rPr>
              <a:t>Fats</a:t>
            </a:r>
            <a:endParaRPr lang="en-US" sz="800" dirty="0"/>
          </a:p>
        </p:txBody>
      </p:sp>
      <p:sp>
        <p:nvSpPr>
          <p:cNvPr id="22" name="Shape 12"/>
          <p:cNvSpPr/>
          <p:nvPr/>
        </p:nvSpPr>
        <p:spPr>
          <a:xfrm>
            <a:off x="5175504" y="4206240"/>
            <a:ext cx="91440" cy="91440"/>
          </a:xfrm>
          <a:prstGeom prst="ellipse">
            <a:avLst/>
          </a:prstGeom>
          <a:solidFill>
            <a:srgbClr val="8BC34A"/>
          </a:solidFill>
          <a:ln w="12700">
            <a:solidFill>
              <a:srgbClr val="8BC34A"/>
            </a:solidFill>
            <a:prstDash val="solid"/>
          </a:ln>
        </p:spPr>
        <p:txBody>
          <a:bodyPr/>
          <a:lstStyle/>
          <a:p>
            <a:endParaRPr lang="en-US"/>
          </a:p>
        </p:txBody>
      </p:sp>
      <p:sp>
        <p:nvSpPr>
          <p:cNvPr id="23" name="Text 13"/>
          <p:cNvSpPr/>
          <p:nvPr/>
        </p:nvSpPr>
        <p:spPr>
          <a:xfrm>
            <a:off x="5303520" y="4169664"/>
            <a:ext cx="868680" cy="182880"/>
          </a:xfrm>
          <a:prstGeom prst="rect">
            <a:avLst/>
          </a:prstGeom>
          <a:noFill/>
          <a:ln/>
        </p:spPr>
        <p:txBody>
          <a:bodyPr wrap="square" lIns="0" tIns="0" rIns="0" bIns="0" rtlCol="0" anchor="ctr"/>
          <a:lstStyle/>
          <a:p>
            <a:pPr marL="0" indent="0">
              <a:buNone/>
            </a:pPr>
            <a:r>
              <a:rPr lang="en-US" sz="800" dirty="0">
                <a:solidFill>
                  <a:srgbClr val="5A7A5A"/>
                </a:solidFill>
                <a:latin typeface="Calibri" pitchFamily="34" charset="0"/>
                <a:ea typeface="Calibri" pitchFamily="34" charset="-122"/>
                <a:cs typeface="Calibri" pitchFamily="34" charset="-120"/>
              </a:rPr>
              <a:t>Vitamins</a:t>
            </a:r>
            <a:endParaRPr lang="en-US" sz="800" dirty="0"/>
          </a:p>
        </p:txBody>
      </p:sp>
      <p:sp>
        <p:nvSpPr>
          <p:cNvPr id="24" name="Shape 14"/>
          <p:cNvSpPr/>
          <p:nvPr/>
        </p:nvSpPr>
        <p:spPr>
          <a:xfrm>
            <a:off x="6199632" y="4206240"/>
            <a:ext cx="91440" cy="91440"/>
          </a:xfrm>
          <a:prstGeom prst="ellipse">
            <a:avLst/>
          </a:prstGeom>
          <a:solidFill>
            <a:srgbClr val="14B8A6"/>
          </a:solidFill>
          <a:ln w="12700">
            <a:solidFill>
              <a:srgbClr val="14B8A6"/>
            </a:solidFill>
            <a:prstDash val="solid"/>
          </a:ln>
        </p:spPr>
        <p:txBody>
          <a:bodyPr/>
          <a:lstStyle/>
          <a:p>
            <a:endParaRPr lang="en-US"/>
          </a:p>
        </p:txBody>
      </p:sp>
      <p:sp>
        <p:nvSpPr>
          <p:cNvPr id="25" name="Text 15"/>
          <p:cNvSpPr/>
          <p:nvPr/>
        </p:nvSpPr>
        <p:spPr>
          <a:xfrm>
            <a:off x="6327648" y="4169664"/>
            <a:ext cx="868680" cy="182880"/>
          </a:xfrm>
          <a:prstGeom prst="rect">
            <a:avLst/>
          </a:prstGeom>
          <a:noFill/>
          <a:ln/>
        </p:spPr>
        <p:txBody>
          <a:bodyPr wrap="square" lIns="0" tIns="0" rIns="0" bIns="0" rtlCol="0" anchor="ctr"/>
          <a:lstStyle/>
          <a:p>
            <a:pPr marL="0" indent="0">
              <a:buNone/>
            </a:pPr>
            <a:r>
              <a:rPr lang="en-US" sz="800" dirty="0">
                <a:solidFill>
                  <a:srgbClr val="5A7A5A"/>
                </a:solidFill>
                <a:latin typeface="Calibri" pitchFamily="34" charset="0"/>
                <a:ea typeface="Calibri" pitchFamily="34" charset="-122"/>
                <a:cs typeface="Calibri" pitchFamily="34" charset="-120"/>
              </a:rPr>
              <a:t>Hydration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2718</Words>
  <Application>Microsoft Office PowerPoint</Application>
  <PresentationFormat>On-screen Show (16:9)</PresentationFormat>
  <Paragraphs>106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Just Eat - Nutrition App Presentation</dc:title>
  <dc:subject>PptxGenJS Presentation</dc:subject>
  <dc:creator>PptxGenJS</dc:creator>
  <cp:lastModifiedBy>Colin Peters</cp:lastModifiedBy>
  <cp:revision>1</cp:revision>
  <dcterms:created xsi:type="dcterms:W3CDTF">2026-04-29T20:13:47Z</dcterms:created>
  <dcterms:modified xsi:type="dcterms:W3CDTF">2026-04-29T20:19:48Z</dcterms:modified>
</cp:coreProperties>
</file>